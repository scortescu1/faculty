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0080625" cy="5670550"/>
  <p:notesSz cx="7559675" cy="10691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3" roundtripDataSignature="AMtx7mj3utJQgENODWm6TKJ4wEJ+L9YT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2" d="100"/>
          <a:sy n="132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customschemas.google.com/relationships/presentationmetadata" Target="meta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0079478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02913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4769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03956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2" name="Google Shape;10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254895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1" name="Google Shape;11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99697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8" name="Google Shape;11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01768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4" name="Google Shape;12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710828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0" name="Google Shape;13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485379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7" name="Google Shape;13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376988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4" name="Google Shape;14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156103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0" name="Google Shape;15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488946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5" name="Google Shape;15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435829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2" name="Google Shape;16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228484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8" name="Google Shape;16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668328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3" name="Google Shape;17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88023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0" name="Google Shape;18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013736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7" name="Google Shape;18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930060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3" name="Google Shape;19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458380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cb38bd6433_0_11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cb38bd6433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900" y="801688"/>
            <a:ext cx="7127875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520580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cb38bd6433_0_17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cb38bd6433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900" y="801688"/>
            <a:ext cx="7127875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547025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cb38bd6433_0_19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gcb38bd6433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900" y="801688"/>
            <a:ext cx="7127875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568703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cb38bd6433_0_20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gcb38bd6433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900" y="801688"/>
            <a:ext cx="7127875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624729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cb38bd6433_0_20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gcb38bd6433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900" y="801688"/>
            <a:ext cx="7127875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583038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cb38bd6433_0_21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gcb38bd6433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900" y="801688"/>
            <a:ext cx="7127875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728020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cb38bd6433_0_21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gcb38bd6433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900" y="801688"/>
            <a:ext cx="7127875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730204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cb38bd6433_0_22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gcb38bd6433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900" y="801688"/>
            <a:ext cx="7127875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8341762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cb38bd6433_0_22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gcb38bd6433_0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900" y="801688"/>
            <a:ext cx="7127875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1582314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cb38bd6433_0_23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gcb38bd6433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900" y="801688"/>
            <a:ext cx="7127875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8636290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cb38bd6433_0_24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gcb38bd6433_0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900" y="801688"/>
            <a:ext cx="7127875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3167485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cb38bd6433_0_24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cb38bd6433_0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900" y="801688"/>
            <a:ext cx="7127875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5552985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cb38bd6433_0_25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gcb38bd6433_0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900" y="801688"/>
            <a:ext cx="7127875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041484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cb38bd6433_0_25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gcb38bd6433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900" y="801688"/>
            <a:ext cx="7127875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4391667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cb38bd6433_0_26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gcb38bd6433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900" y="801688"/>
            <a:ext cx="7127875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4921598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cb38bd6433_0_26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gcb38bd6433_0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900" y="801688"/>
            <a:ext cx="7127875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686562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cb38bd6433_0_26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gcb38bd6433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900" y="801688"/>
            <a:ext cx="7127875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5450275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cb38bd6433_0_27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gcb38bd6433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900" y="801688"/>
            <a:ext cx="7127875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8983467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cb38bd6433_0_27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gcb38bd6433_0_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900" y="801688"/>
            <a:ext cx="7127875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7605472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cb38bd6433_0_28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gcb38bd6433_0_2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900" y="801688"/>
            <a:ext cx="7127875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8369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ecompletat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f58e1fc1f0_0_53"/>
          <p:cNvSpPr txBox="1">
            <a:spLocks noGrp="1"/>
          </p:cNvSpPr>
          <p:nvPr>
            <p:ph type="dt" idx="10"/>
          </p:nvPr>
        </p:nvSpPr>
        <p:spPr>
          <a:xfrm>
            <a:off x="504031" y="5163876"/>
            <a:ext cx="23520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gf58e1fc1f0_0_53"/>
          <p:cNvSpPr txBox="1">
            <a:spLocks noGrp="1"/>
          </p:cNvSpPr>
          <p:nvPr>
            <p:ph type="ftr" idx="11"/>
          </p:nvPr>
        </p:nvSpPr>
        <p:spPr>
          <a:xfrm>
            <a:off x="3444214" y="5163876"/>
            <a:ext cx="31923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gf58e1fc1f0_0_53"/>
          <p:cNvSpPr txBox="1">
            <a:spLocks noGrp="1"/>
          </p:cNvSpPr>
          <p:nvPr>
            <p:ph type="sldNum" idx="12"/>
          </p:nvPr>
        </p:nvSpPr>
        <p:spPr>
          <a:xfrm>
            <a:off x="7224448" y="5163876"/>
            <a:ext cx="23520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uă tipuri de conținut" type="twoObj">
  <p:cSld name="TWO_OBJECTS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f58e1fc1f0_0_62"/>
          <p:cNvSpPr txBox="1">
            <a:spLocks noGrp="1"/>
          </p:cNvSpPr>
          <p:nvPr>
            <p:ph type="title"/>
          </p:nvPr>
        </p:nvSpPr>
        <p:spPr>
          <a:xfrm>
            <a:off x="504031" y="227084"/>
            <a:ext cx="9072600" cy="9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gf58e1fc1f0_0_62"/>
          <p:cNvSpPr txBox="1">
            <a:spLocks noGrp="1"/>
          </p:cNvSpPr>
          <p:nvPr>
            <p:ph type="body" idx="1"/>
          </p:nvPr>
        </p:nvSpPr>
        <p:spPr>
          <a:xfrm>
            <a:off x="504031" y="1323128"/>
            <a:ext cx="4452300" cy="3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gf58e1fc1f0_0_62"/>
          <p:cNvSpPr txBox="1">
            <a:spLocks noGrp="1"/>
          </p:cNvSpPr>
          <p:nvPr>
            <p:ph type="body" idx="2"/>
          </p:nvPr>
        </p:nvSpPr>
        <p:spPr>
          <a:xfrm>
            <a:off x="5124318" y="1323128"/>
            <a:ext cx="4452300" cy="3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gf58e1fc1f0_0_62"/>
          <p:cNvSpPr txBox="1">
            <a:spLocks noGrp="1"/>
          </p:cNvSpPr>
          <p:nvPr>
            <p:ph type="dt" idx="10"/>
          </p:nvPr>
        </p:nvSpPr>
        <p:spPr>
          <a:xfrm>
            <a:off x="504031" y="5163876"/>
            <a:ext cx="23520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gf58e1fc1f0_0_62"/>
          <p:cNvSpPr txBox="1">
            <a:spLocks noGrp="1"/>
          </p:cNvSpPr>
          <p:nvPr>
            <p:ph type="ftr" idx="11"/>
          </p:nvPr>
        </p:nvSpPr>
        <p:spPr>
          <a:xfrm>
            <a:off x="3444214" y="5163876"/>
            <a:ext cx="31923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gf58e1fc1f0_0_62"/>
          <p:cNvSpPr txBox="1">
            <a:spLocks noGrp="1"/>
          </p:cNvSpPr>
          <p:nvPr>
            <p:ph type="sldNum" idx="12"/>
          </p:nvPr>
        </p:nvSpPr>
        <p:spPr>
          <a:xfrm>
            <a:off x="7224448" y="5163876"/>
            <a:ext cx="23520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zitiv titlu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f58e1fc1f0_0_6"/>
          <p:cNvSpPr txBox="1">
            <a:spLocks noGrp="1"/>
          </p:cNvSpPr>
          <p:nvPr>
            <p:ph type="ctrTitle"/>
          </p:nvPr>
        </p:nvSpPr>
        <p:spPr>
          <a:xfrm>
            <a:off x="1260078" y="928028"/>
            <a:ext cx="7560600" cy="19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gf58e1fc1f0_0_6"/>
          <p:cNvSpPr txBox="1">
            <a:spLocks noGrp="1"/>
          </p:cNvSpPr>
          <p:nvPr>
            <p:ph type="subTitle" idx="1"/>
          </p:nvPr>
        </p:nvSpPr>
        <p:spPr>
          <a:xfrm>
            <a:off x="1260078" y="2978352"/>
            <a:ext cx="7560600" cy="1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" name="Google Shape;25;gf58e1fc1f0_0_6"/>
          <p:cNvSpPr txBox="1">
            <a:spLocks noGrp="1"/>
          </p:cNvSpPr>
          <p:nvPr>
            <p:ph type="dt" idx="10"/>
          </p:nvPr>
        </p:nvSpPr>
        <p:spPr>
          <a:xfrm>
            <a:off x="504031" y="5163876"/>
            <a:ext cx="23520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f58e1fc1f0_0_6"/>
          <p:cNvSpPr txBox="1">
            <a:spLocks noGrp="1"/>
          </p:cNvSpPr>
          <p:nvPr>
            <p:ph type="ftr" idx="11"/>
          </p:nvPr>
        </p:nvSpPr>
        <p:spPr>
          <a:xfrm>
            <a:off x="3444214" y="5163876"/>
            <a:ext cx="31923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gf58e1fc1f0_0_6"/>
          <p:cNvSpPr txBox="1">
            <a:spLocks noGrp="1"/>
          </p:cNvSpPr>
          <p:nvPr>
            <p:ph type="sldNum" idx="12"/>
          </p:nvPr>
        </p:nvSpPr>
        <p:spPr>
          <a:xfrm>
            <a:off x="7224448" y="5163876"/>
            <a:ext cx="23520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u și conținu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f58e1fc1f0_0_12"/>
          <p:cNvSpPr txBox="1">
            <a:spLocks noGrp="1"/>
          </p:cNvSpPr>
          <p:nvPr>
            <p:ph type="title"/>
          </p:nvPr>
        </p:nvSpPr>
        <p:spPr>
          <a:xfrm>
            <a:off x="504031" y="227084"/>
            <a:ext cx="9072600" cy="9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f58e1fc1f0_0_12"/>
          <p:cNvSpPr txBox="1">
            <a:spLocks noGrp="1"/>
          </p:cNvSpPr>
          <p:nvPr>
            <p:ph type="body" idx="1"/>
          </p:nvPr>
        </p:nvSpPr>
        <p:spPr>
          <a:xfrm>
            <a:off x="504031" y="1323128"/>
            <a:ext cx="9072600" cy="3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gf58e1fc1f0_0_12"/>
          <p:cNvSpPr txBox="1">
            <a:spLocks noGrp="1"/>
          </p:cNvSpPr>
          <p:nvPr>
            <p:ph type="dt" idx="10"/>
          </p:nvPr>
        </p:nvSpPr>
        <p:spPr>
          <a:xfrm>
            <a:off x="504031" y="5163876"/>
            <a:ext cx="23520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gf58e1fc1f0_0_12"/>
          <p:cNvSpPr txBox="1">
            <a:spLocks noGrp="1"/>
          </p:cNvSpPr>
          <p:nvPr>
            <p:ph type="ftr" idx="11"/>
          </p:nvPr>
        </p:nvSpPr>
        <p:spPr>
          <a:xfrm>
            <a:off x="3444214" y="5163876"/>
            <a:ext cx="31923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gf58e1fc1f0_0_12"/>
          <p:cNvSpPr txBox="1">
            <a:spLocks noGrp="1"/>
          </p:cNvSpPr>
          <p:nvPr>
            <p:ph type="sldNum" idx="12"/>
          </p:nvPr>
        </p:nvSpPr>
        <p:spPr>
          <a:xfrm>
            <a:off x="7224448" y="5163876"/>
            <a:ext cx="23520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ție" type="twoTxTwoObj">
  <p:cSld name="TWO_OBJECTS_WITH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f58e1fc1f0_0_18"/>
          <p:cNvSpPr txBox="1">
            <a:spLocks noGrp="1"/>
          </p:cNvSpPr>
          <p:nvPr>
            <p:ph type="title"/>
          </p:nvPr>
        </p:nvSpPr>
        <p:spPr>
          <a:xfrm>
            <a:off x="694794" y="301904"/>
            <a:ext cx="8694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gf58e1fc1f0_0_18"/>
          <p:cNvSpPr txBox="1">
            <a:spLocks noGrp="1"/>
          </p:cNvSpPr>
          <p:nvPr>
            <p:ph type="body" idx="1"/>
          </p:nvPr>
        </p:nvSpPr>
        <p:spPr>
          <a:xfrm>
            <a:off x="694794" y="1390073"/>
            <a:ext cx="4265100" cy="6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7" name="Google Shape;37;gf58e1fc1f0_0_18"/>
          <p:cNvSpPr txBox="1">
            <a:spLocks noGrp="1"/>
          </p:cNvSpPr>
          <p:nvPr>
            <p:ph type="body" idx="2"/>
          </p:nvPr>
        </p:nvSpPr>
        <p:spPr>
          <a:xfrm>
            <a:off x="694794" y="2071326"/>
            <a:ext cx="4265100" cy="30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gf58e1fc1f0_0_18"/>
          <p:cNvSpPr txBox="1">
            <a:spLocks noGrp="1"/>
          </p:cNvSpPr>
          <p:nvPr>
            <p:ph type="body" idx="3"/>
          </p:nvPr>
        </p:nvSpPr>
        <p:spPr>
          <a:xfrm>
            <a:off x="5103316" y="1390073"/>
            <a:ext cx="4286100" cy="6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gf58e1fc1f0_0_18"/>
          <p:cNvSpPr txBox="1">
            <a:spLocks noGrp="1"/>
          </p:cNvSpPr>
          <p:nvPr>
            <p:ph type="body" idx="4"/>
          </p:nvPr>
        </p:nvSpPr>
        <p:spPr>
          <a:xfrm>
            <a:off x="5103316" y="2071326"/>
            <a:ext cx="4286100" cy="30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gf58e1fc1f0_0_18"/>
          <p:cNvSpPr txBox="1">
            <a:spLocks noGrp="1"/>
          </p:cNvSpPr>
          <p:nvPr>
            <p:ph type="dt" idx="10"/>
          </p:nvPr>
        </p:nvSpPr>
        <p:spPr>
          <a:xfrm>
            <a:off x="504031" y="5163876"/>
            <a:ext cx="23520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gf58e1fc1f0_0_18"/>
          <p:cNvSpPr txBox="1">
            <a:spLocks noGrp="1"/>
          </p:cNvSpPr>
          <p:nvPr>
            <p:ph type="ftr" idx="11"/>
          </p:nvPr>
        </p:nvSpPr>
        <p:spPr>
          <a:xfrm>
            <a:off x="3444214" y="5163876"/>
            <a:ext cx="31923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gf58e1fc1f0_0_18"/>
          <p:cNvSpPr txBox="1">
            <a:spLocks noGrp="1"/>
          </p:cNvSpPr>
          <p:nvPr>
            <p:ph type="sldNum" idx="12"/>
          </p:nvPr>
        </p:nvSpPr>
        <p:spPr>
          <a:xfrm>
            <a:off x="7224448" y="5163876"/>
            <a:ext cx="23520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u vertical și text" type="vertTitleAndTx">
  <p:cSld name="VERTICAL_TITLE_AND_VERTICAL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f58e1fc1f0_0_27"/>
          <p:cNvSpPr txBox="1">
            <a:spLocks noGrp="1"/>
          </p:cNvSpPr>
          <p:nvPr>
            <p:ph type="title"/>
          </p:nvPr>
        </p:nvSpPr>
        <p:spPr>
          <a:xfrm rot="5400000">
            <a:off x="6023394" y="1512285"/>
            <a:ext cx="4838400" cy="22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gf58e1fc1f0_0_27"/>
          <p:cNvSpPr txBox="1">
            <a:spLocks noGrp="1"/>
          </p:cNvSpPr>
          <p:nvPr>
            <p:ph type="body" idx="1"/>
          </p:nvPr>
        </p:nvSpPr>
        <p:spPr>
          <a:xfrm rot="5400000">
            <a:off x="1403093" y="-671865"/>
            <a:ext cx="4838400" cy="66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gf58e1fc1f0_0_27"/>
          <p:cNvSpPr txBox="1">
            <a:spLocks noGrp="1"/>
          </p:cNvSpPr>
          <p:nvPr>
            <p:ph type="dt" idx="10"/>
          </p:nvPr>
        </p:nvSpPr>
        <p:spPr>
          <a:xfrm>
            <a:off x="504031" y="5163876"/>
            <a:ext cx="23520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gf58e1fc1f0_0_27"/>
          <p:cNvSpPr txBox="1">
            <a:spLocks noGrp="1"/>
          </p:cNvSpPr>
          <p:nvPr>
            <p:ph type="ftr" idx="11"/>
          </p:nvPr>
        </p:nvSpPr>
        <p:spPr>
          <a:xfrm>
            <a:off x="3444214" y="5163876"/>
            <a:ext cx="31923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gf58e1fc1f0_0_27"/>
          <p:cNvSpPr txBox="1">
            <a:spLocks noGrp="1"/>
          </p:cNvSpPr>
          <p:nvPr>
            <p:ph type="sldNum" idx="12"/>
          </p:nvPr>
        </p:nvSpPr>
        <p:spPr>
          <a:xfrm>
            <a:off x="7224448" y="5163876"/>
            <a:ext cx="23520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vertical și titlu" type="vertTx">
  <p:cSld name="VERTICAL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f58e1fc1f0_0_33"/>
          <p:cNvSpPr txBox="1">
            <a:spLocks noGrp="1"/>
          </p:cNvSpPr>
          <p:nvPr>
            <p:ph type="title"/>
          </p:nvPr>
        </p:nvSpPr>
        <p:spPr>
          <a:xfrm>
            <a:off x="504031" y="227084"/>
            <a:ext cx="9072600" cy="9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gf58e1fc1f0_0_33"/>
          <p:cNvSpPr txBox="1">
            <a:spLocks noGrp="1"/>
          </p:cNvSpPr>
          <p:nvPr>
            <p:ph type="body" idx="1"/>
          </p:nvPr>
        </p:nvSpPr>
        <p:spPr>
          <a:xfrm rot="5400000">
            <a:off x="3169194" y="-1342072"/>
            <a:ext cx="3742200" cy="90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gf58e1fc1f0_0_33"/>
          <p:cNvSpPr txBox="1">
            <a:spLocks noGrp="1"/>
          </p:cNvSpPr>
          <p:nvPr>
            <p:ph type="dt" idx="10"/>
          </p:nvPr>
        </p:nvSpPr>
        <p:spPr>
          <a:xfrm>
            <a:off x="504031" y="5163876"/>
            <a:ext cx="23520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gf58e1fc1f0_0_33"/>
          <p:cNvSpPr txBox="1">
            <a:spLocks noGrp="1"/>
          </p:cNvSpPr>
          <p:nvPr>
            <p:ph type="ftr" idx="11"/>
          </p:nvPr>
        </p:nvSpPr>
        <p:spPr>
          <a:xfrm>
            <a:off x="3444214" y="5163876"/>
            <a:ext cx="31923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gf58e1fc1f0_0_33"/>
          <p:cNvSpPr txBox="1">
            <a:spLocks noGrp="1"/>
          </p:cNvSpPr>
          <p:nvPr>
            <p:ph type="sldNum" idx="12"/>
          </p:nvPr>
        </p:nvSpPr>
        <p:spPr>
          <a:xfrm>
            <a:off x="7224448" y="5163876"/>
            <a:ext cx="23520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ine cu legendă" type="picTx">
  <p:cSld name="PICTURE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f58e1fc1f0_0_39"/>
          <p:cNvSpPr txBox="1">
            <a:spLocks noGrp="1"/>
          </p:cNvSpPr>
          <p:nvPr>
            <p:ph type="title"/>
          </p:nvPr>
        </p:nvSpPr>
        <p:spPr>
          <a:xfrm>
            <a:off x="694794" y="378037"/>
            <a:ext cx="3251700" cy="13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gf58e1fc1f0_0_39"/>
          <p:cNvSpPr>
            <a:spLocks noGrp="1"/>
          </p:cNvSpPr>
          <p:nvPr>
            <p:ph type="pic" idx="2"/>
          </p:nvPr>
        </p:nvSpPr>
        <p:spPr>
          <a:xfrm>
            <a:off x="4286016" y="816454"/>
            <a:ext cx="5103300" cy="40299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gf58e1fc1f0_0_39"/>
          <p:cNvSpPr txBox="1">
            <a:spLocks noGrp="1"/>
          </p:cNvSpPr>
          <p:nvPr>
            <p:ph type="body" idx="1"/>
          </p:nvPr>
        </p:nvSpPr>
        <p:spPr>
          <a:xfrm>
            <a:off x="694794" y="1701165"/>
            <a:ext cx="3251700" cy="3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9" name="Google Shape;59;gf58e1fc1f0_0_39"/>
          <p:cNvSpPr txBox="1">
            <a:spLocks noGrp="1"/>
          </p:cNvSpPr>
          <p:nvPr>
            <p:ph type="dt" idx="10"/>
          </p:nvPr>
        </p:nvSpPr>
        <p:spPr>
          <a:xfrm>
            <a:off x="504031" y="5163876"/>
            <a:ext cx="23520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gf58e1fc1f0_0_39"/>
          <p:cNvSpPr txBox="1">
            <a:spLocks noGrp="1"/>
          </p:cNvSpPr>
          <p:nvPr>
            <p:ph type="ftr" idx="11"/>
          </p:nvPr>
        </p:nvSpPr>
        <p:spPr>
          <a:xfrm>
            <a:off x="3444214" y="5163876"/>
            <a:ext cx="31923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gf58e1fc1f0_0_39"/>
          <p:cNvSpPr txBox="1">
            <a:spLocks noGrp="1"/>
          </p:cNvSpPr>
          <p:nvPr>
            <p:ph type="sldNum" idx="12"/>
          </p:nvPr>
        </p:nvSpPr>
        <p:spPr>
          <a:xfrm>
            <a:off x="7224448" y="5163876"/>
            <a:ext cx="23520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ținut cu legendă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f58e1fc1f0_0_46"/>
          <p:cNvSpPr txBox="1">
            <a:spLocks noGrp="1"/>
          </p:cNvSpPr>
          <p:nvPr>
            <p:ph type="title"/>
          </p:nvPr>
        </p:nvSpPr>
        <p:spPr>
          <a:xfrm>
            <a:off x="694794" y="378037"/>
            <a:ext cx="3251700" cy="13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gf58e1fc1f0_0_46"/>
          <p:cNvSpPr txBox="1">
            <a:spLocks noGrp="1"/>
          </p:cNvSpPr>
          <p:nvPr>
            <p:ph type="body" idx="1"/>
          </p:nvPr>
        </p:nvSpPr>
        <p:spPr>
          <a:xfrm>
            <a:off x="4286016" y="816454"/>
            <a:ext cx="5103300" cy="40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5" name="Google Shape;65;gf58e1fc1f0_0_46"/>
          <p:cNvSpPr txBox="1">
            <a:spLocks noGrp="1"/>
          </p:cNvSpPr>
          <p:nvPr>
            <p:ph type="body" idx="2"/>
          </p:nvPr>
        </p:nvSpPr>
        <p:spPr>
          <a:xfrm>
            <a:off x="694794" y="1701165"/>
            <a:ext cx="3251700" cy="3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gf58e1fc1f0_0_46"/>
          <p:cNvSpPr txBox="1">
            <a:spLocks noGrp="1"/>
          </p:cNvSpPr>
          <p:nvPr>
            <p:ph type="dt" idx="10"/>
          </p:nvPr>
        </p:nvSpPr>
        <p:spPr>
          <a:xfrm>
            <a:off x="504031" y="5163876"/>
            <a:ext cx="23520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gf58e1fc1f0_0_46"/>
          <p:cNvSpPr txBox="1">
            <a:spLocks noGrp="1"/>
          </p:cNvSpPr>
          <p:nvPr>
            <p:ph type="ftr" idx="11"/>
          </p:nvPr>
        </p:nvSpPr>
        <p:spPr>
          <a:xfrm>
            <a:off x="3444214" y="5163876"/>
            <a:ext cx="31923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gf58e1fc1f0_0_46"/>
          <p:cNvSpPr txBox="1">
            <a:spLocks noGrp="1"/>
          </p:cNvSpPr>
          <p:nvPr>
            <p:ph type="sldNum" idx="12"/>
          </p:nvPr>
        </p:nvSpPr>
        <p:spPr>
          <a:xfrm>
            <a:off x="7224448" y="5163876"/>
            <a:ext cx="23520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ar titlu" type="titleOnly">
  <p:cSld name="TITLE_ONL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f58e1fc1f0_0_57"/>
          <p:cNvSpPr txBox="1">
            <a:spLocks noGrp="1"/>
          </p:cNvSpPr>
          <p:nvPr>
            <p:ph type="title"/>
          </p:nvPr>
        </p:nvSpPr>
        <p:spPr>
          <a:xfrm>
            <a:off x="504031" y="227084"/>
            <a:ext cx="9072600" cy="9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gf58e1fc1f0_0_57"/>
          <p:cNvSpPr txBox="1">
            <a:spLocks noGrp="1"/>
          </p:cNvSpPr>
          <p:nvPr>
            <p:ph type="dt" idx="10"/>
          </p:nvPr>
        </p:nvSpPr>
        <p:spPr>
          <a:xfrm>
            <a:off x="504031" y="5163876"/>
            <a:ext cx="23520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gf58e1fc1f0_0_57"/>
          <p:cNvSpPr txBox="1">
            <a:spLocks noGrp="1"/>
          </p:cNvSpPr>
          <p:nvPr>
            <p:ph type="ftr" idx="11"/>
          </p:nvPr>
        </p:nvSpPr>
        <p:spPr>
          <a:xfrm>
            <a:off x="3444214" y="5163876"/>
            <a:ext cx="31923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gf58e1fc1f0_0_57"/>
          <p:cNvSpPr txBox="1">
            <a:spLocks noGrp="1"/>
          </p:cNvSpPr>
          <p:nvPr>
            <p:ph type="sldNum" idx="12"/>
          </p:nvPr>
        </p:nvSpPr>
        <p:spPr>
          <a:xfrm>
            <a:off x="7224448" y="5163876"/>
            <a:ext cx="23520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ntet secțiune" type="secHead">
  <p:cSld name="SECTION_HEADER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f58e1fc1f0_0_69"/>
          <p:cNvSpPr txBox="1">
            <a:spLocks noGrp="1"/>
          </p:cNvSpPr>
          <p:nvPr>
            <p:ph type="title"/>
          </p:nvPr>
        </p:nvSpPr>
        <p:spPr>
          <a:xfrm>
            <a:off x="687793" y="1413700"/>
            <a:ext cx="8694600" cy="23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gf58e1fc1f0_0_69"/>
          <p:cNvSpPr txBox="1">
            <a:spLocks noGrp="1"/>
          </p:cNvSpPr>
          <p:nvPr>
            <p:ph type="body" idx="1"/>
          </p:nvPr>
        </p:nvSpPr>
        <p:spPr>
          <a:xfrm>
            <a:off x="687793" y="3794806"/>
            <a:ext cx="8694600" cy="12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7" name="Google Shape;77;gf58e1fc1f0_0_69"/>
          <p:cNvSpPr txBox="1">
            <a:spLocks noGrp="1"/>
          </p:cNvSpPr>
          <p:nvPr>
            <p:ph type="dt" idx="10"/>
          </p:nvPr>
        </p:nvSpPr>
        <p:spPr>
          <a:xfrm>
            <a:off x="504031" y="5163876"/>
            <a:ext cx="23520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gf58e1fc1f0_0_69"/>
          <p:cNvSpPr txBox="1">
            <a:spLocks noGrp="1"/>
          </p:cNvSpPr>
          <p:nvPr>
            <p:ph type="ftr" idx="11"/>
          </p:nvPr>
        </p:nvSpPr>
        <p:spPr>
          <a:xfrm>
            <a:off x="3444214" y="5163876"/>
            <a:ext cx="31923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gf58e1fc1f0_0_69"/>
          <p:cNvSpPr txBox="1">
            <a:spLocks noGrp="1"/>
          </p:cNvSpPr>
          <p:nvPr>
            <p:ph type="sldNum" idx="12"/>
          </p:nvPr>
        </p:nvSpPr>
        <p:spPr>
          <a:xfrm>
            <a:off x="7224448" y="5163876"/>
            <a:ext cx="23520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f58e1fc1f0_0_0"/>
          <p:cNvSpPr txBox="1">
            <a:spLocks noGrp="1"/>
          </p:cNvSpPr>
          <p:nvPr>
            <p:ph type="title"/>
          </p:nvPr>
        </p:nvSpPr>
        <p:spPr>
          <a:xfrm>
            <a:off x="504031" y="227084"/>
            <a:ext cx="9072600" cy="9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f58e1fc1f0_0_0"/>
          <p:cNvSpPr txBox="1">
            <a:spLocks noGrp="1"/>
          </p:cNvSpPr>
          <p:nvPr>
            <p:ph type="body" idx="1"/>
          </p:nvPr>
        </p:nvSpPr>
        <p:spPr>
          <a:xfrm>
            <a:off x="504031" y="1323128"/>
            <a:ext cx="9072600" cy="3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gf58e1fc1f0_0_0"/>
          <p:cNvSpPr txBox="1">
            <a:spLocks noGrp="1"/>
          </p:cNvSpPr>
          <p:nvPr>
            <p:ph type="dt" idx="10"/>
          </p:nvPr>
        </p:nvSpPr>
        <p:spPr>
          <a:xfrm>
            <a:off x="504031" y="5163876"/>
            <a:ext cx="23520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gf58e1fc1f0_0_0"/>
          <p:cNvSpPr txBox="1">
            <a:spLocks noGrp="1"/>
          </p:cNvSpPr>
          <p:nvPr>
            <p:ph type="ftr" idx="11"/>
          </p:nvPr>
        </p:nvSpPr>
        <p:spPr>
          <a:xfrm>
            <a:off x="3444214" y="5163876"/>
            <a:ext cx="31923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gf58e1fc1f0_0_0"/>
          <p:cNvSpPr txBox="1">
            <a:spLocks noGrp="1"/>
          </p:cNvSpPr>
          <p:nvPr>
            <p:ph type="sldNum" idx="12"/>
          </p:nvPr>
        </p:nvSpPr>
        <p:spPr>
          <a:xfrm>
            <a:off x="7224448" y="5163876"/>
            <a:ext cx="23520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703315" y="462345"/>
            <a:ext cx="8854200" cy="9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ro-RO" sz="4400" b="1" dirty="0">
                <a:solidFill>
                  <a:srgbClr val="333333"/>
                </a:solidFill>
              </a:rPr>
              <a:t>A</a:t>
            </a:r>
            <a:r>
              <a:rPr lang="en-US" sz="4400" b="1" i="0" u="none" strike="noStrike" cap="none" dirty="0" smtClean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 </a:t>
            </a:r>
            <a:r>
              <a:rPr lang="en-US" sz="44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4400" b="1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Laborator</a:t>
            </a:r>
            <a:r>
              <a:rPr lang="en-US" sz="44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2</a:t>
            </a:r>
            <a:endParaRPr sz="4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2521800" y="1620000"/>
            <a:ext cx="5034240" cy="21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000" marR="0" lvl="0" indent="-21527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Bit/Byte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21527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Prezentare Verilog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21527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Primul program in Verilog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21527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Structuri repetitive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/>
          <p:nvPr/>
        </p:nvSpPr>
        <p:spPr>
          <a:xfrm>
            <a:off x="719640" y="225360"/>
            <a:ext cx="8853120" cy="9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Bit? Byte?</a:t>
            </a:r>
            <a:endParaRPr sz="3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719640" y="1619280"/>
            <a:ext cx="7689960" cy="328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2000" marR="0" lvl="0" indent="-322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2929"/>
              </a:buClr>
              <a:buSzPts val="945"/>
              <a:buFont typeface="Noto Sans Symbols"/>
              <a:buChar char="●"/>
            </a:pPr>
            <a:r>
              <a:rPr lang="en-US" sz="21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Informatiile dintr-un calculator(fisiere, sistem de operare, ora, etc.) sunt tinute cu ajutorul </a:t>
            </a:r>
            <a:r>
              <a:rPr lang="en-US" sz="21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bitilor</a:t>
            </a:r>
            <a:r>
              <a:rPr lang="en-US" sz="21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2200" algn="l" rtl="0">
              <a:lnSpc>
                <a:spcPct val="100000"/>
              </a:lnSpc>
              <a:spcBef>
                <a:spcPts val="1057"/>
              </a:spcBef>
              <a:spcAft>
                <a:spcPts val="0"/>
              </a:spcAft>
              <a:buClr>
                <a:srgbClr val="EF2929"/>
              </a:buClr>
              <a:buSzPts val="945"/>
              <a:buFont typeface="Noto Sans Symbols"/>
              <a:buChar char="●"/>
            </a:pPr>
            <a:r>
              <a:rPr lang="en-US" sz="21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Bit == intreruptator. Un bit poate fi 0 (OFF) sau 1 (ON)</a:t>
            </a:r>
            <a:endParaRPr sz="2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64000" marR="0" lvl="1" indent="-322199" algn="l" rtl="0">
              <a:lnSpc>
                <a:spcPct val="100000"/>
              </a:lnSpc>
              <a:spcBef>
                <a:spcPts val="1057"/>
              </a:spcBef>
              <a:spcAft>
                <a:spcPts val="0"/>
              </a:spcAft>
              <a:buClr>
                <a:srgbClr val="EF2929"/>
              </a:buClr>
              <a:buSzPts val="1575"/>
              <a:buFont typeface="Noto Sans Symbols"/>
              <a:buChar char="−"/>
            </a:pPr>
            <a:r>
              <a:rPr lang="en-US" sz="21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Deoarece un bit poate avea maxim 2 valori, spunem ca acesta e reprezentat folosind </a:t>
            </a:r>
            <a:r>
              <a:rPr lang="en-US" sz="2100" b="0" i="1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baza 2</a:t>
            </a:r>
            <a:endParaRPr sz="2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48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3200" y="2011320"/>
            <a:ext cx="1238760" cy="1689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flipH="1">
            <a:off x="8505000" y="3772800"/>
            <a:ext cx="1253880" cy="1253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/>
          <p:nvPr/>
        </p:nvSpPr>
        <p:spPr>
          <a:xfrm>
            <a:off x="719640" y="225360"/>
            <a:ext cx="8853120" cy="9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Bit? Byte? - cont’d</a:t>
            </a:r>
            <a:endParaRPr sz="3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719640" y="1619280"/>
            <a:ext cx="8637480" cy="328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2000" marR="0" lvl="0" indent="-322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2929"/>
              </a:buClr>
              <a:buSzPts val="945"/>
              <a:buFont typeface="Noto Sans Symbols"/>
              <a:buChar char="●"/>
            </a:pPr>
            <a:r>
              <a:rPr lang="en-US" sz="21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Un byte (pronunțat bait) este cea mai mică unitate de stocare a informației adresabilă independent într-un calculator. </a:t>
            </a:r>
            <a:r>
              <a:rPr lang="en-US" sz="2100" b="0" i="0" u="none" strike="noStrike" cap="none" baseline="30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[3]</a:t>
            </a:r>
            <a:endParaRPr sz="2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2200" algn="l" rtl="0">
              <a:lnSpc>
                <a:spcPct val="100000"/>
              </a:lnSpc>
              <a:spcBef>
                <a:spcPts val="1057"/>
              </a:spcBef>
              <a:spcAft>
                <a:spcPts val="0"/>
              </a:spcAft>
              <a:buClr>
                <a:srgbClr val="EF2929"/>
              </a:buClr>
              <a:buSzPts val="945"/>
              <a:buFont typeface="Noto Sans Symbols"/>
              <a:buChar char="●"/>
            </a:pPr>
            <a:r>
              <a:rPr lang="en-US" sz="21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Un byte == un octet == 8 biti *</a:t>
            </a:r>
            <a:endParaRPr sz="2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2200" algn="l" rtl="0">
              <a:lnSpc>
                <a:spcPct val="100000"/>
              </a:lnSpc>
              <a:spcBef>
                <a:spcPts val="1057"/>
              </a:spcBef>
              <a:spcAft>
                <a:spcPts val="0"/>
              </a:spcAft>
              <a:buClr>
                <a:srgbClr val="EF2929"/>
              </a:buClr>
              <a:buSzPts val="945"/>
              <a:buFont typeface="Noto Sans Symbols"/>
              <a:buChar char="●"/>
            </a:pPr>
            <a:r>
              <a:rPr lang="en-US" sz="2100" b="0" i="1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*In majoritatea cazurilor. Exista si exceptii rare!</a:t>
            </a:r>
            <a:endParaRPr sz="2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719640" y="225360"/>
            <a:ext cx="8853120" cy="9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Verilog – Ce este?</a:t>
            </a:r>
            <a:endParaRPr sz="3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0"/>
          <p:cNvSpPr/>
          <p:nvPr/>
        </p:nvSpPr>
        <p:spPr>
          <a:xfrm>
            <a:off x="721565" y="1635580"/>
            <a:ext cx="8637600" cy="3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6000" marR="0" lvl="0" indent="-214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Verilog este un limbaj de descriere hardware (Hardware Description Language -HDL), destinat descrierii comportamentului și/sau arhitecturii unui sistem numeric (procesor, placa video, etc.) </a:t>
            </a:r>
            <a:r>
              <a:rPr lang="en-US" sz="2000" b="0" i="0" u="none" strike="noStrike" cap="none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[1]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214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Sintaxa limbajului este asemanatoare cu </a:t>
            </a: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17200" y="2629800"/>
            <a:ext cx="2854080" cy="166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7890" y="3453448"/>
            <a:ext cx="2045161" cy="1387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0"/>
          <p:cNvPicPr preferRelativeResize="0"/>
          <p:nvPr/>
        </p:nvPicPr>
        <p:blipFill rotWithShape="1">
          <a:blip r:embed="rId5">
            <a:alphaModFix amt="38000"/>
          </a:blip>
          <a:srcRect/>
          <a:stretch/>
        </p:blipFill>
        <p:spPr>
          <a:xfrm>
            <a:off x="3628635" y="3322055"/>
            <a:ext cx="1650240" cy="1649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1"/>
          <p:cNvSpPr/>
          <p:nvPr/>
        </p:nvSpPr>
        <p:spPr>
          <a:xfrm>
            <a:off x="719640" y="225360"/>
            <a:ext cx="8853120" cy="9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Verilog – De ce?</a:t>
            </a:r>
            <a:endParaRPr sz="3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1"/>
          <p:cNvSpPr/>
          <p:nvPr/>
        </p:nvSpPr>
        <p:spPr>
          <a:xfrm>
            <a:off x="680765" y="1643780"/>
            <a:ext cx="8637600" cy="3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2000" marR="0" lvl="0" indent="-322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2929"/>
              </a:buClr>
              <a:buSzPts val="945"/>
              <a:buFont typeface="Noto Sans Symbols"/>
              <a:buChar char="●"/>
            </a:pPr>
            <a:r>
              <a:rPr lang="en-US" sz="2100" b="1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Costuri</a:t>
            </a:r>
            <a:r>
              <a:rPr lang="en-US" sz="21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2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Folosind</a:t>
            </a:r>
            <a:r>
              <a:rPr lang="en-US" sz="2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un </a:t>
            </a:r>
            <a:r>
              <a:rPr lang="en-US" sz="2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limbaj</a:t>
            </a:r>
            <a:r>
              <a:rPr lang="en-US" sz="2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descriere</a:t>
            </a:r>
            <a:r>
              <a:rPr lang="en-US" sz="2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hardware, </a:t>
            </a:r>
            <a:r>
              <a:rPr lang="en-US" sz="2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testarea</a:t>
            </a:r>
            <a:r>
              <a:rPr lang="en-US" sz="2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circuitului</a:t>
            </a:r>
            <a:r>
              <a:rPr lang="en-US" sz="2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descris</a:t>
            </a:r>
            <a:r>
              <a:rPr lang="en-US" sz="2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poate</a:t>
            </a:r>
            <a:r>
              <a:rPr lang="en-US" sz="2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fi </a:t>
            </a:r>
            <a:r>
              <a:rPr lang="en-US" sz="2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facuta</a:t>
            </a:r>
            <a:r>
              <a:rPr lang="en-US" sz="2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fara</a:t>
            </a:r>
            <a:r>
              <a:rPr lang="en-US" sz="2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construirea</a:t>
            </a:r>
            <a:r>
              <a:rPr lang="en-US" sz="2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circuitului</a:t>
            </a:r>
            <a:r>
              <a:rPr lang="en-US" sz="2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fizic</a:t>
            </a:r>
            <a:r>
              <a:rPr lang="en-US" sz="2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2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Eventualele</a:t>
            </a:r>
            <a:r>
              <a:rPr lang="en-US" sz="2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probleme</a:t>
            </a:r>
            <a:r>
              <a:rPr lang="en-US" sz="2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sunt </a:t>
            </a:r>
            <a:r>
              <a:rPr lang="en-US" sz="2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descoperite</a:t>
            </a:r>
            <a:r>
              <a:rPr lang="en-US" sz="2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la </a:t>
            </a:r>
            <a:r>
              <a:rPr lang="en-US" sz="2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timp</a:t>
            </a:r>
            <a:r>
              <a:rPr lang="en-US" sz="2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 </a:t>
            </a:r>
            <a:r>
              <a:rPr lang="en-US" sz="2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fara</a:t>
            </a:r>
            <a:r>
              <a:rPr lang="en-US" sz="2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a se </a:t>
            </a:r>
            <a:r>
              <a:rPr lang="en-US" sz="2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pierde</a:t>
            </a:r>
            <a:r>
              <a:rPr lang="en-US" sz="2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bani</a:t>
            </a:r>
            <a:r>
              <a:rPr lang="en-US" sz="2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timp</a:t>
            </a:r>
            <a:r>
              <a:rPr lang="en-US" sz="2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-US" sz="2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constructia</a:t>
            </a:r>
            <a:r>
              <a:rPr lang="en-US" sz="2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unei</a:t>
            </a:r>
            <a:r>
              <a:rPr lang="en-US" sz="2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componente</a:t>
            </a:r>
            <a:r>
              <a:rPr lang="en-US" sz="2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fizice</a:t>
            </a:r>
            <a:endParaRPr sz="2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2200" algn="l" rtl="0">
              <a:lnSpc>
                <a:spcPct val="100000"/>
              </a:lnSpc>
              <a:spcBef>
                <a:spcPts val="1057"/>
              </a:spcBef>
              <a:spcAft>
                <a:spcPts val="0"/>
              </a:spcAft>
              <a:buClr>
                <a:srgbClr val="EF2929"/>
              </a:buClr>
              <a:buSzPts val="945"/>
              <a:buFont typeface="Noto Sans Symbols"/>
              <a:buChar char="●"/>
            </a:pPr>
            <a:r>
              <a:rPr lang="en-US" sz="2100" b="1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Facilitare</a:t>
            </a:r>
            <a:r>
              <a:rPr lang="en-US" sz="21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design: </a:t>
            </a:r>
            <a:r>
              <a:rPr lang="en-US" sz="2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Multe</a:t>
            </a:r>
            <a:r>
              <a:rPr lang="en-US" sz="2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limbaje</a:t>
            </a:r>
            <a:r>
              <a:rPr lang="en-US" sz="2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descriere</a:t>
            </a:r>
            <a:r>
              <a:rPr lang="en-US" sz="2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hardware au </a:t>
            </a:r>
            <a:r>
              <a:rPr lang="en-US" sz="2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posibilitatea</a:t>
            </a:r>
            <a:r>
              <a:rPr lang="en-US" sz="2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generarii</a:t>
            </a:r>
            <a:r>
              <a:rPr lang="en-US" sz="2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circuitului</a:t>
            </a:r>
            <a:r>
              <a:rPr lang="en-US" sz="2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100" b="0" i="0" u="none" strike="noStrike" cap="none" dirty="0" err="1" smtClean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descris</a:t>
            </a:r>
            <a:endParaRPr sz="2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" name="Google Shape;115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9025" y="3434975"/>
            <a:ext cx="3222350" cy="177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2"/>
          <p:cNvSpPr/>
          <p:nvPr/>
        </p:nvSpPr>
        <p:spPr>
          <a:xfrm>
            <a:off x="719640" y="225720"/>
            <a:ext cx="885420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Primul program in Verilog</a:t>
            </a: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2"/>
          <p:cNvSpPr/>
          <p:nvPr/>
        </p:nvSpPr>
        <p:spPr>
          <a:xfrm>
            <a:off x="719640" y="1620000"/>
            <a:ext cx="8638560" cy="328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2000" marR="0" lvl="0" indent="-32327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2929"/>
              </a:buClr>
              <a:buSzPts val="990"/>
              <a:buFont typeface="Noto Sans Symbols"/>
              <a:buChar char="●"/>
            </a:pPr>
            <a:r>
              <a:rPr lang="en-US" sz="22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În cele ce urmeaza, vom studia într-o primă parte comportamentul unor structuri repetitive în Verilog și în a doua parte vom aborda metodologia de reprezentare a bazelor de numerație (binar, octal, zecimal, hexa..).                    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3278" algn="l" rtl="0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EF2929"/>
              </a:buClr>
              <a:buSzPts val="990"/>
              <a:buFont typeface="Noto Sans Symbols"/>
              <a:buChar char="●"/>
            </a:pPr>
            <a:r>
              <a:rPr lang="en-US" sz="22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Trebuie reținut faptul că limbajul Verilog este un HDL, adică Hardware Descripting Language și că îl vom utiliza pentru modelarea și simularea unor componente hardware.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3"/>
          <p:cNvSpPr/>
          <p:nvPr/>
        </p:nvSpPr>
        <p:spPr>
          <a:xfrm>
            <a:off x="719650" y="458593"/>
            <a:ext cx="8854200" cy="10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Primul</a:t>
            </a:r>
            <a:r>
              <a:rPr lang="en-US" sz="44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program in Verilog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4400" b="1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structuri</a:t>
            </a:r>
            <a:r>
              <a:rPr lang="en-US" sz="44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repetitive</a:t>
            </a:r>
            <a:endParaRPr sz="4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3"/>
          <p:cNvSpPr/>
          <p:nvPr/>
        </p:nvSpPr>
        <p:spPr>
          <a:xfrm>
            <a:off x="719640" y="1873995"/>
            <a:ext cx="8638560" cy="328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2000" marR="0" lvl="0" indent="-32327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2929"/>
              </a:buClr>
              <a:buSzPts val="900"/>
              <a:buFont typeface="Noto Sans Symbols"/>
              <a:buChar char="●"/>
            </a:pP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Dupa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̆ cum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probabil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deja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știți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structurile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repetitive ne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ușureaza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̆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munca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În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loc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sa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̆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afișăm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de 10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ori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un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mesaj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cu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ajutorul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unei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structuri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repetitive care se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repeta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̆ de 10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ori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vom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afișa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un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mesaj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         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3278" algn="l" rtl="0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EF2929"/>
              </a:buClr>
              <a:buSzPts val="900"/>
              <a:buFont typeface="Noto Sans Symbols"/>
              <a:buChar char="●"/>
            </a:pP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În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Verilog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avem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mai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multe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structuri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repetitive,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dar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în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acest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laborator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vom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exemplifica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doar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3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dintre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ele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0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for, while </a:t>
            </a:r>
            <a:r>
              <a:rPr lang="en-US" sz="2000" b="1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și</a:t>
            </a:r>
            <a:r>
              <a:rPr lang="en-US" sz="20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repeat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pentru a ne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obișnui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cu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crearea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fișiere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în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ModelSim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salvarea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compilarea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și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simularea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acestora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"/>
          <p:cNvSpPr/>
          <p:nvPr/>
        </p:nvSpPr>
        <p:spPr>
          <a:xfrm>
            <a:off x="719640" y="470774"/>
            <a:ext cx="8854200" cy="97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Primul</a:t>
            </a:r>
            <a:r>
              <a:rPr lang="en-US" sz="44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program in Verilog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4400" b="1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Pasi</a:t>
            </a:r>
            <a:r>
              <a:rPr lang="en-US" sz="44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400" b="1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creare</a:t>
            </a:r>
            <a:r>
              <a:rPr lang="en-US" sz="44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400" b="1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proiect</a:t>
            </a:r>
            <a:endParaRPr sz="4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4"/>
          <p:cNvSpPr/>
          <p:nvPr/>
        </p:nvSpPr>
        <p:spPr>
          <a:xfrm>
            <a:off x="721027" y="1759526"/>
            <a:ext cx="8638500" cy="3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2000" marR="0" lvl="0" indent="-32327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2929"/>
              </a:buClr>
              <a:buSzPts val="2800"/>
              <a:buFont typeface="Noto Sans Symbols"/>
              <a:buAutoNum type="arabicParenR"/>
            </a:pPr>
            <a:r>
              <a:rPr lang="en-US" sz="28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Vom</a:t>
            </a:r>
            <a:r>
              <a:rPr lang="en-US" sz="28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deschide</a:t>
            </a:r>
            <a:r>
              <a:rPr lang="en-US" sz="28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programul</a:t>
            </a:r>
            <a:r>
              <a:rPr lang="en-US" sz="28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ModelSim</a:t>
            </a:r>
            <a:r>
              <a:rPr lang="en-US" sz="28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și</a:t>
            </a:r>
            <a:r>
              <a:rPr lang="en-US" sz="28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vom</a:t>
            </a:r>
            <a:r>
              <a:rPr lang="en-US" sz="28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crea</a:t>
            </a:r>
            <a:r>
              <a:rPr lang="en-US" sz="28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un </a:t>
            </a:r>
            <a:r>
              <a:rPr lang="en-US" sz="28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nou</a:t>
            </a:r>
            <a:r>
              <a:rPr lang="en-US" sz="28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proiect</a:t>
            </a:r>
            <a:r>
              <a:rPr lang="en-US" sz="28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accesând</a:t>
            </a:r>
            <a:r>
              <a:rPr lang="en-US" sz="28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1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File → New → Project...</a:t>
            </a: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79800" y="2708643"/>
            <a:ext cx="2284920" cy="2435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"/>
          <p:cNvSpPr/>
          <p:nvPr/>
        </p:nvSpPr>
        <p:spPr>
          <a:xfrm>
            <a:off x="719640" y="225720"/>
            <a:ext cx="885420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5"/>
          <p:cNvSpPr/>
          <p:nvPr/>
        </p:nvSpPr>
        <p:spPr>
          <a:xfrm>
            <a:off x="719640" y="1620000"/>
            <a:ext cx="8638560" cy="328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2000" marR="0" lvl="0" indent="-32327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2929"/>
              </a:buClr>
              <a:buSzPts val="1260"/>
              <a:buFont typeface="Noto Sans Symbols"/>
              <a:buChar char="●"/>
            </a:pPr>
            <a:r>
              <a:rPr lang="en-US" sz="28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Vom denumi proiectul </a:t>
            </a:r>
            <a:r>
              <a:rPr lang="en-US" sz="2800" b="0" i="0" u="sng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laborator_2_project</a:t>
            </a:r>
            <a:r>
              <a:rPr lang="en-US" sz="28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și se va da click pe </a:t>
            </a:r>
            <a:r>
              <a:rPr lang="en-US" sz="28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r>
              <a:rPr lang="en-US" sz="28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8960" y="2824920"/>
            <a:ext cx="2894040" cy="2021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/>
          <p:nvPr/>
        </p:nvSpPr>
        <p:spPr>
          <a:xfrm>
            <a:off x="548280" y="415803"/>
            <a:ext cx="8638560" cy="328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2000" marR="0" lvl="0" indent="-32327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2929"/>
              </a:buClr>
              <a:buSzPts val="900"/>
              <a:buFont typeface="Noto Sans Symbols"/>
              <a:buChar char="●"/>
            </a:pP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Se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va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adăuga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un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fișier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în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proiect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utilizând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meniul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nou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apărut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Add items to the project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și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dând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click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Create New File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.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Va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apărea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noua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̆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fereastra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̆ </a:t>
            </a:r>
            <a:r>
              <a:rPr lang="en-US" sz="20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Create Project File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unde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veți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completa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cu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numele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fișierului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în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cazul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nostru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repetitiv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și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(F</a:t>
            </a:r>
            <a:r>
              <a:rPr lang="en-US" sz="20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OARTE IMPORTANT!!!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veți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selecta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tipul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fișierului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ca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fiind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Verilog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.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147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68880" y="2011680"/>
            <a:ext cx="3747960" cy="3321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/>
          <p:nvPr/>
        </p:nvSpPr>
        <p:spPr>
          <a:xfrm>
            <a:off x="686520" y="754200"/>
            <a:ext cx="8638560" cy="16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2000" marR="0" lvl="0" indent="-32327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2929"/>
              </a:buClr>
              <a:buSzPts val="1260"/>
              <a:buFont typeface="Noto Sans Symbols"/>
              <a:buChar char="●"/>
            </a:pPr>
            <a:r>
              <a:rPr lang="en-US" sz="28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După putem da click pe </a:t>
            </a:r>
            <a:r>
              <a:rPr lang="en-US" sz="28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r>
              <a:rPr lang="en-US" sz="28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și să dăm </a:t>
            </a:r>
            <a:r>
              <a:rPr lang="en-US" sz="28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Close</a:t>
            </a:r>
            <a:r>
              <a:rPr lang="en-US" sz="28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la fereastra </a:t>
            </a:r>
            <a:r>
              <a:rPr lang="en-US" sz="28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Add items to the project</a:t>
            </a:r>
            <a:r>
              <a:rPr lang="en-US" sz="28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 Dăm dublu click pe fișierul nou creat care apare în partea stângă și se va deschide o fereastră în care putem edita codul.  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8"/>
          <p:cNvSpPr/>
          <p:nvPr/>
        </p:nvSpPr>
        <p:spPr>
          <a:xfrm>
            <a:off x="719640" y="225720"/>
            <a:ext cx="885420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Codul</a:t>
            </a: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5070960" y="3458520"/>
            <a:ext cx="180000" cy="17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19880" y="1097280"/>
            <a:ext cx="5999400" cy="4064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/>
          <p:nvPr/>
        </p:nvSpPr>
        <p:spPr>
          <a:xfrm>
            <a:off x="719640" y="225720"/>
            <a:ext cx="885420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Explicare cod</a:t>
            </a: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719640" y="1620000"/>
            <a:ext cx="8638560" cy="328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2000" marR="0" lvl="0" indent="-32327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2929"/>
              </a:buClr>
              <a:buSzPts val="585"/>
              <a:buFont typeface="Noto Sans Symbols"/>
              <a:buChar char="●"/>
            </a:pPr>
            <a:r>
              <a:rPr lang="en-US" sz="13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La </a:t>
            </a:r>
            <a:r>
              <a:rPr lang="en-US" sz="1300" b="0" i="1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linia 1</a:t>
            </a:r>
            <a:r>
              <a:rPr lang="en-US" sz="13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observăm o declarație de variabilă, variabilă care se numește </a:t>
            </a:r>
            <a:r>
              <a:rPr lang="en-US" sz="13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3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, iar la </a:t>
            </a:r>
            <a:r>
              <a:rPr lang="en-US" sz="1300" b="0" i="1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linia 2</a:t>
            </a:r>
            <a:r>
              <a:rPr lang="en-US" sz="13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un bloc </a:t>
            </a:r>
            <a:r>
              <a:rPr lang="en-US" sz="13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initial</a:t>
            </a:r>
            <a:r>
              <a:rPr lang="en-US" sz="13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fără de care nu se poate nimic din punct de vedere funcțional în limbajul Verilog.              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3278" algn="l" rtl="0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EF2929"/>
              </a:buClr>
              <a:buSzPts val="585"/>
              <a:buFont typeface="Noto Sans Symbols"/>
              <a:buChar char="●"/>
            </a:pPr>
            <a:r>
              <a:rPr lang="en-US" sz="13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La </a:t>
            </a:r>
            <a:r>
              <a:rPr lang="en-US" sz="1300" b="0" i="1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linia 4</a:t>
            </a:r>
            <a:r>
              <a:rPr lang="en-US" sz="13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în cadrul instrucțiunii for observăm că scrie </a:t>
            </a:r>
            <a:r>
              <a:rPr lang="en-US" sz="13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i=i+1</a:t>
            </a:r>
            <a:r>
              <a:rPr lang="en-US" sz="13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în loc să scrie mai simplu </a:t>
            </a:r>
            <a:r>
              <a:rPr lang="en-US" sz="13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i++</a:t>
            </a:r>
            <a:r>
              <a:rPr lang="en-US" sz="13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din cauză că în limbajul Verilog nu există operatorii </a:t>
            </a:r>
            <a:r>
              <a:rPr lang="en-US" sz="13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++</a:t>
            </a:r>
            <a:r>
              <a:rPr lang="en-US" sz="13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sau </a:t>
            </a:r>
            <a:r>
              <a:rPr lang="en-US" sz="13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--</a:t>
            </a:r>
            <a:r>
              <a:rPr lang="en-US" sz="13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deci se vor utiliza </a:t>
            </a:r>
            <a:r>
              <a:rPr lang="en-US" sz="13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i=i+1</a:t>
            </a:r>
            <a:r>
              <a:rPr lang="en-US" sz="13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sau </a:t>
            </a:r>
            <a:r>
              <a:rPr lang="en-US" sz="13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i=i-1</a:t>
            </a:r>
            <a:r>
              <a:rPr lang="en-US" sz="13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.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3278" algn="l" rtl="0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EF2929"/>
              </a:buClr>
              <a:buSzPts val="585"/>
              <a:buFont typeface="Noto Sans Symbols"/>
              <a:buChar char="●"/>
            </a:pPr>
            <a:r>
              <a:rPr lang="en-US" sz="13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La </a:t>
            </a:r>
            <a:r>
              <a:rPr lang="en-US" sz="1300" b="0" i="1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linia 6</a:t>
            </a:r>
            <a:r>
              <a:rPr lang="en-US" sz="13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se reinițializează variabila </a:t>
            </a:r>
            <a:r>
              <a:rPr lang="en-US" sz="13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3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pentru a ne asigura că în cadrul următoarei structuri repetitive variabila </a:t>
            </a:r>
            <a:r>
              <a:rPr lang="en-US" sz="13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3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va porni de la valoarea </a:t>
            </a:r>
            <a:r>
              <a:rPr lang="en-US" sz="13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3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3278" algn="l" rtl="0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EF2929"/>
              </a:buClr>
              <a:buSzPts val="585"/>
              <a:buFont typeface="Noto Sans Symbols"/>
              <a:buChar char="●"/>
            </a:pPr>
            <a:r>
              <a:rPr lang="en-US" sz="13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La </a:t>
            </a:r>
            <a:r>
              <a:rPr lang="en-US" sz="1300" b="0" i="1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linia 8</a:t>
            </a:r>
            <a:r>
              <a:rPr lang="en-US" sz="13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apare </a:t>
            </a:r>
            <a:r>
              <a:rPr lang="en-US" sz="13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i=i+1</a:t>
            </a:r>
            <a:r>
              <a:rPr lang="en-US" sz="13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doar pentru că dorim să afișăm valori diferite pentru variabila </a:t>
            </a:r>
            <a:r>
              <a:rPr lang="en-US" sz="13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3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, nefiind necesară această instrucțiune ca în cazul lui </a:t>
            </a:r>
            <a:r>
              <a:rPr lang="en-US" sz="13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while</a:t>
            </a:r>
            <a:r>
              <a:rPr lang="en-US" sz="13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sau </a:t>
            </a:r>
            <a:r>
              <a:rPr lang="en-US" sz="13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lang="en-US" sz="13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care sunt bucle cu condiții de oprire. Structura repetitivă </a:t>
            </a:r>
            <a:r>
              <a:rPr lang="en-US" sz="13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repeat</a:t>
            </a:r>
            <a:r>
              <a:rPr lang="en-US" sz="13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se repetă de câte ori este specificat între paranteze, în cazul nostru, </a:t>
            </a:r>
            <a:r>
              <a:rPr lang="en-US" sz="13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 10 ori</a:t>
            </a:r>
            <a:r>
              <a:rPr lang="en-US" sz="13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3278" algn="l" rtl="0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EF2929"/>
              </a:buClr>
              <a:buSzPts val="585"/>
              <a:buFont typeface="Noto Sans Symbols"/>
              <a:buChar char="●"/>
            </a:pPr>
            <a:r>
              <a:rPr lang="en-US" sz="13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Funcția </a:t>
            </a:r>
            <a:r>
              <a:rPr lang="en-US" sz="13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$display</a:t>
            </a:r>
            <a:r>
              <a:rPr lang="en-US" sz="13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este o funcție care tipărește mesaje. Practic, la linia 3 dorim să afișăm mesajul </a:t>
            </a:r>
            <a:r>
              <a:rPr lang="en-US" sz="13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„FOR LOOP”</a:t>
            </a:r>
            <a:r>
              <a:rPr lang="en-US" sz="13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iar la l</a:t>
            </a:r>
            <a:r>
              <a:rPr lang="en-US" sz="1300" b="0" i="1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iniile 5 și 7</a:t>
            </a:r>
            <a:r>
              <a:rPr lang="en-US" sz="13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vom dori să afișăm variabila </a:t>
            </a:r>
            <a:r>
              <a:rPr lang="en-US" sz="13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3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care, în interiorul mesajului va fi pusă unde apare </a:t>
            </a:r>
            <a:r>
              <a:rPr lang="en-US" sz="13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%d</a:t>
            </a:r>
            <a:r>
              <a:rPr lang="en-US" sz="13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. 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3278" algn="l" rtl="0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EF2929"/>
              </a:buClr>
              <a:buSzPts val="585"/>
              <a:buFont typeface="Noto Sans Symbols"/>
              <a:buChar char="●"/>
            </a:pPr>
            <a:r>
              <a:rPr lang="en-US" sz="13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/>
          <p:nvPr/>
        </p:nvSpPr>
        <p:spPr>
          <a:xfrm>
            <a:off x="639720" y="1031760"/>
            <a:ext cx="8638560" cy="328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2000" marR="0" lvl="0" indent="-3232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2929"/>
              </a:buClr>
              <a:buSzPts val="720"/>
              <a:buFont typeface="Noto Sans Symbols"/>
              <a:buChar char="●"/>
            </a:pP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După scrierea codului se va salva fișierul dând click pe butonul </a:t>
            </a:r>
            <a:r>
              <a:rPr lang="en-US" sz="16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Save</a:t>
            </a: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sau utilizând combinația de taste </a:t>
            </a:r>
            <a:r>
              <a:rPr lang="en-US" sz="16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Ctrl+S</a:t>
            </a: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.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3280" algn="l" rtl="0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EF2929"/>
              </a:buClr>
              <a:buSzPts val="720"/>
              <a:buFont typeface="Noto Sans Symbols"/>
              <a:buChar char="●"/>
            </a:pP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Se verifică salvarea fișierului uitându-ne dacă mai apare </a:t>
            </a:r>
            <a:r>
              <a:rPr lang="en-US" sz="1600" b="1" i="0" u="sng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steluța</a:t>
            </a: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în dreptul numelui fișierului sau nu.                    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3280" algn="l" rtl="0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EF2929"/>
              </a:buClr>
              <a:buSzPts val="720"/>
              <a:buFont typeface="Noto Sans Symbols"/>
              <a:buChar char="●"/>
            </a:pP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După salvare vom compila fișierul dând click pe butonul </a:t>
            </a:r>
            <a:r>
              <a:rPr lang="en-US" sz="16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Compile All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3280" algn="l" rtl="0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EF2929"/>
              </a:buClr>
              <a:buSzPts val="720"/>
              <a:buFont typeface="Noto Sans Symbols"/>
              <a:buChar char="●"/>
            </a:pP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După compilare dacă rezultă erori le corectăm, salvăm fișierul modificat și în compilăm încă o dată. Dacă nu avem erori, simulăm dând click pe butonul </a:t>
            </a:r>
            <a:r>
              <a:rPr lang="en-US" sz="16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Simulate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3280" algn="l" rtl="0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EF2929"/>
              </a:buClr>
              <a:buSzPts val="720"/>
              <a:buFont typeface="Noto Sans Symbols"/>
              <a:buChar char="●"/>
            </a:pP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Va apărea o fereastră </a:t>
            </a:r>
            <a:r>
              <a:rPr lang="en-US" sz="16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Start Simulation</a:t>
            </a: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unde se va da click pe simbolul </a:t>
            </a:r>
            <a:r>
              <a:rPr lang="en-US" sz="16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din stânga folderului work pentru deschiderea conținutului acestuia ( ca să vedem fișierele din el) . După se va selecta fișierul repetitiv și se va da click pe </a:t>
            </a:r>
            <a:r>
              <a:rPr lang="en-US" sz="16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3280" algn="l" rtl="0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EF2929"/>
              </a:buClr>
              <a:buSzPts val="720"/>
              <a:buFont typeface="Noto Sans Symbols"/>
              <a:buChar char="●"/>
            </a:pP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După “tranformarea” ModelSim-ului ( adică după apariția noilor ferestre sim și Object) ne asigurăm că vedem fereastra </a:t>
            </a:r>
            <a:r>
              <a:rPr lang="en-US" sz="16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Transcript</a:t>
            </a: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 Dacă nu o vedem, o putem vedea accesând meniul View și selectând </a:t>
            </a:r>
            <a:r>
              <a:rPr lang="en-US" sz="16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View → Transcript</a:t>
            </a: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.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1"/>
          <p:cNvSpPr/>
          <p:nvPr/>
        </p:nvSpPr>
        <p:spPr>
          <a:xfrm>
            <a:off x="719640" y="225720"/>
            <a:ext cx="885420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1"/>
          <p:cNvSpPr/>
          <p:nvPr/>
        </p:nvSpPr>
        <p:spPr>
          <a:xfrm>
            <a:off x="719640" y="1620000"/>
            <a:ext cx="8638560" cy="328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2000" marR="0" lvl="0" indent="-32327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2929"/>
              </a:buClr>
              <a:buSzPts val="900"/>
              <a:buFont typeface="Noto Sans Symbols"/>
              <a:buChar char="●"/>
            </a:pP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Dacă vedem fereastra </a:t>
            </a:r>
            <a:r>
              <a:rPr lang="en-US" sz="20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Transcript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o putem face mai mare poziționând mouse-ul pe bara ca în imagine și ținând apăsat </a:t>
            </a:r>
            <a:r>
              <a:rPr lang="en-US" sz="20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click stânga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tragem de bară în sus. 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7" name="Google Shape;177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8520" y="2743200"/>
            <a:ext cx="5656320" cy="2571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2"/>
          <p:cNvSpPr/>
          <p:nvPr/>
        </p:nvSpPr>
        <p:spPr>
          <a:xfrm>
            <a:off x="719640" y="225720"/>
            <a:ext cx="885420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2"/>
          <p:cNvSpPr/>
          <p:nvPr/>
        </p:nvSpPr>
        <p:spPr>
          <a:xfrm>
            <a:off x="719640" y="1620000"/>
            <a:ext cx="8638560" cy="328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2000" marR="0" lvl="0" indent="-32327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2929"/>
              </a:buClr>
              <a:buSzPts val="900"/>
              <a:buFont typeface="Noto Sans Symbols"/>
              <a:buChar char="●"/>
            </a:pP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Astfel vom vedea mai bine fereastra </a:t>
            </a:r>
            <a:r>
              <a:rPr lang="en-US" sz="20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Transcript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unde vor apărea toate mesajele tipărite de funcția </a:t>
            </a:r>
            <a:r>
              <a:rPr lang="en-US" sz="20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$display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" name="Google Shape;184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63040" y="2705040"/>
            <a:ext cx="5551560" cy="2506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3"/>
          <p:cNvSpPr/>
          <p:nvPr/>
        </p:nvSpPr>
        <p:spPr>
          <a:xfrm>
            <a:off x="639720" y="551880"/>
            <a:ext cx="8638560" cy="328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2000" marR="0" lvl="0" indent="-32327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2929"/>
              </a:buClr>
              <a:buSzPts val="900"/>
              <a:buFont typeface="Noto Sans Symbols"/>
              <a:buChar char="●"/>
            </a:pP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Dupa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̆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vom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rula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programul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click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butonul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Run -All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3278" algn="l" rtl="0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EF2929"/>
              </a:buClr>
              <a:buSzPts val="900"/>
              <a:buFont typeface="Noto Sans Symbols"/>
              <a:buChar char="●"/>
            </a:pP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În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fereastra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Transcript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vor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apărea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toate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mesajele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tipărite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3278" algn="l" rtl="0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EF2929"/>
              </a:buClr>
              <a:buSzPts val="900"/>
              <a:buFont typeface="Noto Sans Symbols"/>
              <a:buChar char="●"/>
            </a:pP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A se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observa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în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mod special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efectul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1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liniei</a:t>
            </a:r>
            <a:r>
              <a:rPr lang="en-US" sz="2000" b="0" i="1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7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fața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̆ de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efectul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1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liniei</a:t>
            </a:r>
            <a:r>
              <a:rPr lang="en-US" sz="2000" b="0" i="1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5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din cod.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Introducerea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lui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%0d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în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loc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%d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fapt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va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însemna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cu 0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spații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2000" b="0" i="0" u="none" strike="noStrike" cap="none" dirty="0" smtClean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" name="Google Shape;190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69400" y="2076120"/>
            <a:ext cx="2010240" cy="3409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4"/>
          <p:cNvSpPr/>
          <p:nvPr/>
        </p:nvSpPr>
        <p:spPr>
          <a:xfrm>
            <a:off x="719640" y="354282"/>
            <a:ext cx="8854200" cy="106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Simbolistica</a:t>
            </a:r>
            <a:r>
              <a:rPr lang="en-US" sz="32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1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specifică</a:t>
            </a:r>
            <a:r>
              <a:rPr lang="en-US" sz="32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pentru </a:t>
            </a:r>
            <a:r>
              <a:rPr lang="en-US" sz="3200" b="1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reprezentarea</a:t>
            </a:r>
            <a:r>
              <a:rPr lang="en-US" sz="32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1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numerelor</a:t>
            </a:r>
            <a:r>
              <a:rPr lang="en-US" sz="32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1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în</a:t>
            </a:r>
            <a:r>
              <a:rPr lang="en-US" sz="32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1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diferite</a:t>
            </a:r>
            <a:r>
              <a:rPr lang="en-US" sz="32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1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baze</a:t>
            </a:r>
            <a:r>
              <a:rPr lang="en-US" sz="32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6" name="Google Shape;196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8760" y="1632129"/>
            <a:ext cx="6170760" cy="2999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cb38bd6433_0_116"/>
          <p:cNvSpPr/>
          <p:nvPr/>
        </p:nvSpPr>
        <p:spPr>
          <a:xfrm>
            <a:off x="720000" y="291065"/>
            <a:ext cx="8855400" cy="9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16000" marR="0" lvl="0" indent="-2156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</a:pPr>
            <a:r>
              <a:rPr lang="en-US" sz="4400" b="1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Primul</a:t>
            </a:r>
            <a:r>
              <a:rPr lang="en-US" sz="44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design in Verilog</a:t>
            </a:r>
            <a:endParaRPr sz="44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cb38bd6433_0_116"/>
          <p:cNvSpPr/>
          <p:nvPr/>
        </p:nvSpPr>
        <p:spPr>
          <a:xfrm>
            <a:off x="720000" y="1620227"/>
            <a:ext cx="8639700" cy="3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3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2929"/>
              </a:buClr>
              <a:buSzPts val="900"/>
              <a:buFont typeface="Noto Sans Symbols"/>
              <a:buChar char="●"/>
            </a:pP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În cadrul laboratorului precedent am analizat cum afișăm mesaje în Verilog, acum urmează să modelăm ceva funcțional.</a:t>
            </a:r>
            <a:endParaRPr sz="20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3639" algn="l" rtl="0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EF2929"/>
              </a:buClr>
              <a:buSzPts val="900"/>
              <a:buFont typeface="Noto Sans Symbols"/>
              <a:buChar char="●"/>
            </a:pP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Creăm un fișier nou aritmetic.v în care scriem următorul cod: </a:t>
            </a:r>
            <a:endParaRPr sz="20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3" name="Google Shape;203;gcb38bd6433_0_1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45920" y="2763837"/>
            <a:ext cx="4579301" cy="12140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cb38bd6433_0_174"/>
          <p:cNvSpPr/>
          <p:nvPr/>
        </p:nvSpPr>
        <p:spPr>
          <a:xfrm>
            <a:off x="720000" y="225752"/>
            <a:ext cx="8855400" cy="9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gcb38bd6433_0_174"/>
          <p:cNvSpPr/>
          <p:nvPr/>
        </p:nvSpPr>
        <p:spPr>
          <a:xfrm>
            <a:off x="720000" y="1620227"/>
            <a:ext cx="8639700" cy="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3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2929"/>
              </a:buClr>
              <a:buSzPts val="900"/>
              <a:buFont typeface="Noto Sans Symbols"/>
              <a:buChar char="●"/>
            </a:pP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Codul nostru va descrie doar un </a:t>
            </a:r>
            <a:r>
              <a:rPr lang="en-US" sz="2000" b="0" i="1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pătrățel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care are două intrări </a:t>
            </a:r>
            <a:r>
              <a:rPr lang="en-US" sz="2000" b="0" i="0" u="sng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și </a:t>
            </a:r>
            <a:r>
              <a:rPr lang="en-US" sz="2000" b="0" i="0" u="sng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și patru ieșiri </a:t>
            </a:r>
            <a:r>
              <a:rPr lang="en-US" sz="2000" b="0" i="0" u="sng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b="0" i="0" u="sng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b="0" i="0" u="sng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și </a:t>
            </a:r>
            <a:r>
              <a:rPr lang="en-US" sz="2000" b="0" i="0" u="sng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și </a:t>
            </a:r>
            <a:r>
              <a:rPr lang="en-US" sz="20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nu are funcționalitate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(aceasta va fi adăugată ulterior). </a:t>
            </a:r>
            <a:endParaRPr sz="20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cb38bd6433_0_174"/>
          <p:cNvSpPr/>
          <p:nvPr/>
        </p:nvSpPr>
        <p:spPr>
          <a:xfrm>
            <a:off x="3657600" y="2674995"/>
            <a:ext cx="1554000" cy="1645800"/>
          </a:xfrm>
          <a:prstGeom prst="rect">
            <a:avLst/>
          </a:prstGeom>
          <a:noFill/>
          <a:ln w="9525" cap="flat" cmpd="sng">
            <a:solidFill>
              <a:srgbClr val="3465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aritmetic</a:t>
            </a: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1" name="Google Shape;211;gcb38bd6433_0_174"/>
          <p:cNvCxnSpPr/>
          <p:nvPr/>
        </p:nvCxnSpPr>
        <p:spPr>
          <a:xfrm>
            <a:off x="2743200" y="2880763"/>
            <a:ext cx="9144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12" name="Google Shape;212;gcb38bd6433_0_174"/>
          <p:cNvCxnSpPr/>
          <p:nvPr/>
        </p:nvCxnSpPr>
        <p:spPr>
          <a:xfrm>
            <a:off x="2743200" y="3978197"/>
            <a:ext cx="9144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13" name="Google Shape;213;gcb38bd6433_0_174"/>
          <p:cNvSpPr/>
          <p:nvPr/>
        </p:nvSpPr>
        <p:spPr>
          <a:xfrm>
            <a:off x="2436120" y="2743584"/>
            <a:ext cx="306600" cy="2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81D41A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cb38bd6433_0_174"/>
          <p:cNvSpPr/>
          <p:nvPr/>
        </p:nvSpPr>
        <p:spPr>
          <a:xfrm>
            <a:off x="2436120" y="3841018"/>
            <a:ext cx="306600" cy="2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81D41A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cb38bd6433_0_174"/>
          <p:cNvSpPr/>
          <p:nvPr/>
        </p:nvSpPr>
        <p:spPr>
          <a:xfrm>
            <a:off x="2739240" y="2606405"/>
            <a:ext cx="826500" cy="2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81D41A"/>
                </a:solidFill>
                <a:latin typeface="Arial"/>
                <a:ea typeface="Arial"/>
                <a:cs typeface="Arial"/>
                <a:sym typeface="Arial"/>
              </a:rPr>
              <a:t>intrare</a:t>
            </a: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cb38bd6433_0_174"/>
          <p:cNvSpPr/>
          <p:nvPr/>
        </p:nvSpPr>
        <p:spPr>
          <a:xfrm>
            <a:off x="2739240" y="3703839"/>
            <a:ext cx="826500" cy="2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81D41A"/>
                </a:solidFill>
                <a:latin typeface="Arial"/>
                <a:ea typeface="Arial"/>
                <a:cs typeface="Arial"/>
                <a:sym typeface="Arial"/>
              </a:rPr>
              <a:t>intrare</a:t>
            </a: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7" name="Google Shape;217;gcb38bd6433_0_174"/>
          <p:cNvCxnSpPr/>
          <p:nvPr/>
        </p:nvCxnSpPr>
        <p:spPr>
          <a:xfrm>
            <a:off x="5212080" y="2812174"/>
            <a:ext cx="12801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18" name="Google Shape;218;gcb38bd6433_0_174"/>
          <p:cNvCxnSpPr/>
          <p:nvPr/>
        </p:nvCxnSpPr>
        <p:spPr>
          <a:xfrm>
            <a:off x="5212080" y="4183966"/>
            <a:ext cx="12801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19" name="Google Shape;219;gcb38bd6433_0_174"/>
          <p:cNvCxnSpPr/>
          <p:nvPr/>
        </p:nvCxnSpPr>
        <p:spPr>
          <a:xfrm>
            <a:off x="5212080" y="3772428"/>
            <a:ext cx="12801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0" name="Google Shape;220;gcb38bd6433_0_174"/>
          <p:cNvCxnSpPr/>
          <p:nvPr/>
        </p:nvCxnSpPr>
        <p:spPr>
          <a:xfrm>
            <a:off x="5212080" y="3292301"/>
            <a:ext cx="12801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21" name="Google Shape;221;gcb38bd6433_0_174"/>
          <p:cNvSpPr/>
          <p:nvPr/>
        </p:nvSpPr>
        <p:spPr>
          <a:xfrm>
            <a:off x="6492240" y="2674995"/>
            <a:ext cx="345000" cy="2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8D1D75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cb38bd6433_0_174"/>
          <p:cNvSpPr/>
          <p:nvPr/>
        </p:nvSpPr>
        <p:spPr>
          <a:xfrm>
            <a:off x="6492240" y="3155122"/>
            <a:ext cx="294900" cy="2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8D1D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cb38bd6433_0_174"/>
          <p:cNvSpPr/>
          <p:nvPr/>
        </p:nvSpPr>
        <p:spPr>
          <a:xfrm>
            <a:off x="6471360" y="3649831"/>
            <a:ext cx="294900" cy="2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8D1D75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cb38bd6433_0_174"/>
          <p:cNvSpPr/>
          <p:nvPr/>
        </p:nvSpPr>
        <p:spPr>
          <a:xfrm>
            <a:off x="6492240" y="4046787"/>
            <a:ext cx="294900" cy="2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8D1D75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cb38bd6433_0_174"/>
          <p:cNvSpPr/>
          <p:nvPr/>
        </p:nvSpPr>
        <p:spPr>
          <a:xfrm>
            <a:off x="5394960" y="2552397"/>
            <a:ext cx="724200" cy="2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8D1D75"/>
                </a:solidFill>
                <a:latin typeface="Arial"/>
                <a:ea typeface="Arial"/>
                <a:cs typeface="Arial"/>
                <a:sym typeface="Arial"/>
              </a:rPr>
              <a:t>iesire</a:t>
            </a: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cb38bd6433_0_174"/>
          <p:cNvSpPr/>
          <p:nvPr/>
        </p:nvSpPr>
        <p:spPr>
          <a:xfrm>
            <a:off x="5394960" y="3909607"/>
            <a:ext cx="724200" cy="2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8D1D75"/>
                </a:solidFill>
                <a:latin typeface="Arial"/>
                <a:ea typeface="Arial"/>
                <a:cs typeface="Arial"/>
                <a:sym typeface="Arial"/>
              </a:rPr>
              <a:t>iesire</a:t>
            </a: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cb38bd6433_0_174"/>
          <p:cNvSpPr/>
          <p:nvPr/>
        </p:nvSpPr>
        <p:spPr>
          <a:xfrm>
            <a:off x="5394960" y="3498070"/>
            <a:ext cx="724200" cy="2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8D1D75"/>
                </a:solidFill>
                <a:latin typeface="Arial"/>
                <a:ea typeface="Arial"/>
                <a:cs typeface="Arial"/>
                <a:sym typeface="Arial"/>
              </a:rPr>
              <a:t>iesire</a:t>
            </a: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cb38bd6433_0_174"/>
          <p:cNvSpPr/>
          <p:nvPr/>
        </p:nvSpPr>
        <p:spPr>
          <a:xfrm>
            <a:off x="5394960" y="3032524"/>
            <a:ext cx="724200" cy="2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8D1D75"/>
                </a:solidFill>
                <a:latin typeface="Arial"/>
                <a:ea typeface="Arial"/>
                <a:cs typeface="Arial"/>
                <a:sym typeface="Arial"/>
              </a:rPr>
              <a:t>iesire</a:t>
            </a: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cb38bd6433_0_198"/>
          <p:cNvSpPr/>
          <p:nvPr/>
        </p:nvSpPr>
        <p:spPr>
          <a:xfrm>
            <a:off x="720000" y="225752"/>
            <a:ext cx="8855400" cy="9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Reguli de bază pentru orice pătrățel:</a:t>
            </a:r>
            <a:endParaRPr sz="3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cb38bd6433_0_198"/>
          <p:cNvSpPr/>
          <p:nvPr/>
        </p:nvSpPr>
        <p:spPr>
          <a:xfrm>
            <a:off x="720000" y="1620227"/>
            <a:ext cx="8639700" cy="3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3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2929"/>
              </a:buClr>
              <a:buSzPts val="900"/>
              <a:buFont typeface="Noto Sans Symbols"/>
              <a:buChar char="●"/>
            </a:pPr>
            <a:r>
              <a:rPr lang="en-US" sz="2000" b="0" i="0" u="none" strike="noStrike" cap="none">
                <a:solidFill>
                  <a:srgbClr val="2A6099"/>
                </a:solidFill>
                <a:latin typeface="Arial"/>
                <a:ea typeface="Arial"/>
                <a:cs typeface="Arial"/>
                <a:sym typeface="Arial"/>
              </a:rPr>
              <a:t>Pătrățel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- când vedem un pătrățel scriem </a:t>
            </a:r>
            <a:r>
              <a:rPr lang="en-US" sz="20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module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și </a:t>
            </a:r>
            <a:r>
              <a:rPr lang="en-US" sz="20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endmodule</a:t>
            </a:r>
            <a:endParaRPr sz="20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3639" algn="l" rtl="0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EF2929"/>
              </a:buClr>
              <a:buSzPts val="900"/>
              <a:buFont typeface="Noto Sans Symbols"/>
              <a:buChar char="●"/>
            </a:pP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Nume pătrățel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- după module scriem numele pătrățelului, în cazul nostru vom scrie numele </a:t>
            </a:r>
            <a:r>
              <a:rPr lang="en-US" sz="20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arithmetic</a:t>
            </a:r>
            <a:endParaRPr sz="20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3639" algn="l" rtl="0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EF2929"/>
              </a:buClr>
              <a:buSzPts val="900"/>
              <a:buFont typeface="Noto Sans Symbols"/>
              <a:buChar char="●"/>
            </a:pPr>
            <a:r>
              <a:rPr lang="en-US" sz="2000" b="0" i="0" u="none" strike="noStrike" cap="none">
                <a:solidFill>
                  <a:srgbClr val="81D41A"/>
                </a:solidFill>
                <a:latin typeface="Arial"/>
                <a:ea typeface="Arial"/>
                <a:cs typeface="Arial"/>
                <a:sym typeface="Arial"/>
              </a:rPr>
              <a:t>Intrări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(Sageti care </a:t>
            </a:r>
            <a:r>
              <a:rPr lang="en-US" sz="2000" b="0" i="0" u="sng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intra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“patratel”)- specificăm între paranteze ca </a:t>
            </a:r>
            <a:r>
              <a:rPr lang="en-US" sz="20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toate intrările (</a:t>
            </a:r>
            <a:r>
              <a:rPr lang="en-US" sz="20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si </a:t>
            </a:r>
            <a:r>
              <a:rPr lang="en-US" sz="20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 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 acest caz)</a:t>
            </a:r>
            <a:endParaRPr sz="20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3639" algn="l" rtl="0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EF2929"/>
              </a:buClr>
              <a:buSzPts val="900"/>
              <a:buFont typeface="Noto Sans Symbols"/>
              <a:buChar char="●"/>
            </a:pPr>
            <a:r>
              <a:rPr lang="en-US" sz="2000" b="0" i="0" u="none" strike="noStrike" cap="none">
                <a:solidFill>
                  <a:srgbClr val="8D1D75"/>
                </a:solidFill>
                <a:latin typeface="Arial"/>
                <a:ea typeface="Arial"/>
                <a:cs typeface="Arial"/>
                <a:sym typeface="Arial"/>
              </a:rPr>
              <a:t>Ieșiri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(Sageti care </a:t>
            </a:r>
            <a:r>
              <a:rPr lang="en-US" sz="2000" b="0" i="0" u="sng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ies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din “patratel”-) specificăm între paranteze ca </a:t>
            </a:r>
            <a:r>
              <a:rPr lang="en-US" sz="20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toate ieșirile (</a:t>
            </a:r>
            <a:r>
              <a:rPr lang="en-US" sz="20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si </a:t>
            </a:r>
            <a:r>
              <a:rPr lang="en-US" sz="20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in acest caz)</a:t>
            </a:r>
            <a:endParaRPr sz="20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cb38bd6433_0_203"/>
          <p:cNvSpPr/>
          <p:nvPr/>
        </p:nvSpPr>
        <p:spPr>
          <a:xfrm>
            <a:off x="720000" y="225752"/>
            <a:ext cx="8855400" cy="9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gcb38bd6433_0_203"/>
          <p:cNvSpPr/>
          <p:nvPr/>
        </p:nvSpPr>
        <p:spPr>
          <a:xfrm>
            <a:off x="720000" y="1620227"/>
            <a:ext cx="8639700" cy="3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3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2929"/>
              </a:buClr>
              <a:buSzPts val="900"/>
              <a:buFont typeface="Noto Sans Symbols"/>
              <a:buChar char="●"/>
            </a:pPr>
            <a:r>
              <a:rPr lang="en-US" sz="20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ATENȚIE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la </a:t>
            </a:r>
            <a:r>
              <a:rPr lang="en-US" sz="20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lista de porturi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adică tot ce scriem între </a:t>
            </a:r>
            <a:r>
              <a:rPr lang="en-US" sz="2000" b="0" i="1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paranteze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 Fiind o listă, toate elementele sunt despărțite prin </a:t>
            </a:r>
            <a:r>
              <a:rPr lang="en-US" sz="2000" b="0" i="0" u="sng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virgulă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altfel spus am putea scrie a,b,w,x,y,z dar mai specificăm și dacă sunt intrări sau ieșiri, ca urmare lista va deveni </a:t>
            </a:r>
            <a:r>
              <a:rPr lang="en-US" sz="20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input a,b, output w,x,y,z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, iar noi le scriem pe rânduri diferite să arate mai frumos codul și să fie mai ușor de citit :). De observat faptul că după </a:t>
            </a:r>
            <a:r>
              <a:rPr lang="en-US" sz="20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, adică ultimul element din lista de porturi, </a:t>
            </a:r>
            <a:r>
              <a:rPr lang="en-US" sz="2000" b="1" i="0" u="sng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nu mai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apare virgulă. </a:t>
            </a:r>
            <a:endParaRPr sz="20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cb38bd6433_0_208"/>
          <p:cNvSpPr/>
          <p:nvPr/>
        </p:nvSpPr>
        <p:spPr>
          <a:xfrm>
            <a:off x="720000" y="225752"/>
            <a:ext cx="8855400" cy="9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gcb38bd6433_0_208"/>
          <p:cNvSpPr/>
          <p:nvPr/>
        </p:nvSpPr>
        <p:spPr>
          <a:xfrm>
            <a:off x="720000" y="1620227"/>
            <a:ext cx="8639700" cy="3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3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2929"/>
              </a:buClr>
              <a:buSzPts val="900"/>
              <a:buFont typeface="Noto Sans Symbols"/>
              <a:buChar char="●"/>
            </a:pP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După ce descriem acel pătrățel, trebuie să spunem și ce anume face, pentru asta vom introduce funcționalitate în cod astfel :</a:t>
            </a:r>
            <a:endParaRPr sz="20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7" name="Google Shape;247;gcb38bd6433_0_20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5840" y="2349221"/>
            <a:ext cx="4815043" cy="2157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cb38bd6433_0_214"/>
          <p:cNvSpPr/>
          <p:nvPr/>
        </p:nvSpPr>
        <p:spPr>
          <a:xfrm>
            <a:off x="720000" y="225752"/>
            <a:ext cx="8855400" cy="9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gcb38bd6433_0_214"/>
          <p:cNvSpPr/>
          <p:nvPr/>
        </p:nvSpPr>
        <p:spPr>
          <a:xfrm>
            <a:off x="595550" y="855852"/>
            <a:ext cx="8639700" cy="3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3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2929"/>
              </a:buClr>
              <a:buSzPts val="720"/>
              <a:buFont typeface="Noto Sans Symbols"/>
              <a:buChar char="●"/>
            </a:pP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 primă modalitate pentru a descrie cum funcționează un pătrățel este de a folosi un bloc </a:t>
            </a:r>
            <a:r>
              <a:rPr lang="en-US" sz="16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always</a:t>
            </a: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sau </a:t>
            </a:r>
            <a:r>
              <a:rPr lang="en-US" sz="16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initial</a:t>
            </a: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. </a:t>
            </a:r>
            <a:endParaRPr sz="16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3639" algn="l" rtl="0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EF2929"/>
              </a:buClr>
              <a:buSzPts val="720"/>
              <a:buFont typeface="Noto Sans Symbols"/>
              <a:buChar char="●"/>
            </a:pP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Simplu spus blocul </a:t>
            </a:r>
            <a:r>
              <a:rPr lang="en-US" sz="16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initial</a:t>
            </a: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se execută o singură dată începând cu momentul </a:t>
            </a:r>
            <a:r>
              <a:rPr lang="en-US" sz="1600" b="0" i="0" u="sng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al simulării.</a:t>
            </a:r>
            <a:endParaRPr sz="16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3639" algn="l" rtl="0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EF2929"/>
              </a:buClr>
              <a:buSzPts val="720"/>
              <a:buFont typeface="Noto Sans Symbols"/>
              <a:buChar char="●"/>
            </a:pP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Bocul </a:t>
            </a:r>
            <a:r>
              <a:rPr lang="en-US" sz="16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always</a:t>
            </a: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se execută ori de câte ori se schimbă valoarea oricărei </a:t>
            </a:r>
            <a:r>
              <a:rPr lang="en-US" sz="16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variabile</a:t>
            </a: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din </a:t>
            </a:r>
            <a:r>
              <a:rPr lang="en-US" sz="16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lista de senzitivitate</a:t>
            </a: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începând cu momentul 0 al simulării și continuând atâta timp cât se mai modifică oricare variabilă din lista de senzitivitate. Sintaxa pentru blocul always este</a:t>
            </a:r>
            <a:endParaRPr sz="16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864000" marR="0" lvl="1" indent="-323640" algn="l" rtl="0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EF2929"/>
              </a:buClr>
              <a:buSzPts val="1200"/>
              <a:buFont typeface="Noto Sans Symbols"/>
              <a:buChar char="−"/>
            </a:pPr>
            <a:r>
              <a:rPr lang="en-US" sz="16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always @ (&lt;&lt;</a:t>
            </a:r>
            <a:r>
              <a:rPr lang="en-US" sz="1600" b="1" i="1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lista senzitivitate&gt;&gt;)</a:t>
            </a:r>
            <a:endParaRPr sz="16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1295999" marR="0" lvl="2" indent="-287639" algn="l" rtl="0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EF2929"/>
              </a:buClr>
              <a:buSzPts val="720"/>
              <a:buFont typeface="Noto Sans Symbols"/>
              <a:buChar char="●"/>
            </a:pP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Elementele din lista de senzitivitate pot fi precizate în 3 moduri:</a:t>
            </a:r>
            <a:endParaRPr sz="16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1728000" marR="0" lvl="3" indent="-215639" algn="l" rtl="0">
              <a:lnSpc>
                <a:spcPct val="100000"/>
              </a:lnSpc>
              <a:spcBef>
                <a:spcPts val="845"/>
              </a:spcBef>
              <a:spcAft>
                <a:spcPts val="0"/>
              </a:spcAft>
              <a:buClr>
                <a:srgbClr val="EF2929"/>
              </a:buClr>
              <a:buSzPts val="1200"/>
              <a:buFont typeface="Noto Sans Symbols"/>
              <a:buChar char="−"/>
            </a:pP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Cu </a:t>
            </a:r>
            <a:r>
              <a:rPr lang="en-US" sz="1600" b="0" i="1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virgulă</a:t>
            </a: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între elemente : </a:t>
            </a:r>
            <a:r>
              <a:rPr lang="en-US" sz="16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always @ (a,b)</a:t>
            </a:r>
            <a:endParaRPr sz="16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1728000" marR="0" lvl="3" indent="-215639" algn="l" rtl="0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EF2929"/>
              </a:buClr>
              <a:buSzPts val="1200"/>
              <a:buFont typeface="Noto Sans Symbols"/>
              <a:buChar char="−"/>
            </a:pP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Cu </a:t>
            </a:r>
            <a:r>
              <a:rPr lang="en-US" sz="1600" b="0" i="1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între elemente : </a:t>
            </a:r>
            <a:r>
              <a:rPr lang="en-US" sz="16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always @ (a or b)</a:t>
            </a:r>
            <a:endParaRPr sz="16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1728000" marR="0" lvl="3" indent="-215639" algn="l" rtl="0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EF2929"/>
              </a:buClr>
              <a:buSzPts val="1200"/>
              <a:buFont typeface="Noto Sans Symbols"/>
              <a:buChar char="−"/>
            </a:pP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Cu </a:t>
            </a:r>
            <a:r>
              <a:rPr lang="en-US" sz="1600" b="0" i="1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în cazul în care în lista de senzitivitate apar toate intrările (oricâte intrări ar fi ) : </a:t>
            </a:r>
            <a:r>
              <a:rPr lang="en-US" sz="16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always @ (*)</a:t>
            </a:r>
            <a:endParaRPr sz="16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cb38bd6433_0_219"/>
          <p:cNvSpPr/>
          <p:nvPr/>
        </p:nvSpPr>
        <p:spPr>
          <a:xfrm>
            <a:off x="720000" y="443462"/>
            <a:ext cx="8855400" cy="9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Regulă pentru </a:t>
            </a:r>
            <a:r>
              <a:rPr lang="en-US" sz="3200" b="1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atribuiri</a:t>
            </a:r>
            <a:r>
              <a:rPr lang="en-US" sz="32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1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în</a:t>
            </a:r>
            <a:r>
              <a:rPr lang="en-US" sz="32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1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blocuri</a:t>
            </a:r>
            <a:r>
              <a:rPr lang="en-US" sz="32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initial </a:t>
            </a:r>
            <a:r>
              <a:rPr lang="en-US" sz="3200" b="1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și</a:t>
            </a:r>
            <a:r>
              <a:rPr lang="en-US" sz="32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always:</a:t>
            </a:r>
            <a:endParaRPr sz="32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gcb38bd6433_0_219"/>
          <p:cNvSpPr/>
          <p:nvPr/>
        </p:nvSpPr>
        <p:spPr>
          <a:xfrm>
            <a:off x="657775" y="1537382"/>
            <a:ext cx="8639700" cy="3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172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2929"/>
              </a:buClr>
              <a:buSzPts val="800"/>
              <a:buFont typeface="Noto Sans Symbols"/>
              <a:buChar char="●"/>
            </a:pP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Daca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̆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avem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variabila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̆ la care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îi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atribuim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valoare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în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interiorul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unui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bloc </a:t>
            </a:r>
            <a:r>
              <a:rPr lang="en-US" sz="19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initial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sau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always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este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variabila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̆ de tip </a:t>
            </a:r>
            <a:r>
              <a:rPr lang="en-US" sz="1900" b="1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reg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.</a:t>
            </a:r>
            <a:endParaRPr sz="19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17289" algn="l" rtl="0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EF2929"/>
              </a:buClr>
              <a:buSzPts val="800"/>
              <a:buFont typeface="Noto Sans Symbols"/>
              <a:buChar char="●"/>
            </a:pP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Pentru că le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atribuim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valori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în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interiorul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unui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bloc </a:t>
            </a:r>
            <a:r>
              <a:rPr lang="en-US" sz="19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always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,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variabilele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9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9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9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și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sunt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declarate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ca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fiind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de tip </a:t>
            </a:r>
            <a:r>
              <a:rPr lang="en-US" sz="19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reg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9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17289" algn="l" rtl="0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EF2929"/>
              </a:buClr>
              <a:buSzPts val="800"/>
              <a:buFont typeface="Noto Sans Symbols"/>
              <a:buChar char="●"/>
            </a:pP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Exista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̆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doua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̆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tipuri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variabile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importante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în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Verilog </a:t>
            </a:r>
            <a:r>
              <a:rPr lang="en-US" sz="19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wire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și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reg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 Pentru </a:t>
            </a:r>
            <a:r>
              <a:rPr lang="en-US" sz="19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wire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adica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̆ </a:t>
            </a:r>
            <a:r>
              <a:rPr lang="en-US" sz="19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fire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avem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doar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conexiune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prin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care se transmit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semnale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altfel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spus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firul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acesta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nu </a:t>
            </a:r>
            <a:r>
              <a:rPr lang="en-US" sz="1900" b="1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ține</a:t>
            </a:r>
            <a:r>
              <a:rPr lang="en-US" sz="19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 b="1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minte</a:t>
            </a:r>
            <a:r>
              <a:rPr lang="en-US" sz="19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 b="1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absolut</a:t>
            </a:r>
            <a:r>
              <a:rPr lang="en-US" sz="19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 b="1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nimic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9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nu are </a:t>
            </a:r>
            <a:r>
              <a:rPr lang="en-US" sz="1900" b="1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memorie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în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timp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ce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 b="1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reg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adica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̆ </a:t>
            </a:r>
            <a:r>
              <a:rPr lang="en-US" sz="1900" b="1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registru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are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capacitatea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de a </a:t>
            </a:r>
            <a:r>
              <a:rPr lang="en-US" sz="1900" b="1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memora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valoare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Orice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variabila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̆ </a:t>
            </a:r>
            <a:r>
              <a:rPr lang="en-US" sz="19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sau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declarata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̆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în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lista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900" b="1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porturi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unui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modul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are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tipul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predefinit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wire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adica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̆ nu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mai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trebuie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sa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̆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specificăm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noi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că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este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de tip wire),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iar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în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cazul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în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care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dorim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sa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̆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avem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variabila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̆ cu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tipul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 b="1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reg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acest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lucru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trebuie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specificat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scriind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input </a:t>
            </a:r>
            <a:r>
              <a:rPr lang="en-US" sz="1900" b="1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reg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sau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output </a:t>
            </a:r>
            <a:r>
              <a:rPr lang="en-US" sz="1900" b="1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reg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în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funcție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9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caz</a:t>
            </a:r>
            <a:r>
              <a:rPr lang="en-US" sz="19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19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cb38bd6433_0_224"/>
          <p:cNvSpPr/>
          <p:nvPr/>
        </p:nvSpPr>
        <p:spPr>
          <a:xfrm>
            <a:off x="720000" y="225752"/>
            <a:ext cx="8855400" cy="9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gcb38bd6433_0_224"/>
          <p:cNvSpPr/>
          <p:nvPr/>
        </p:nvSpPr>
        <p:spPr>
          <a:xfrm>
            <a:off x="720463" y="1078052"/>
            <a:ext cx="8639700" cy="3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3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2929"/>
              </a:buClr>
              <a:buSzPts val="900"/>
              <a:buFont typeface="Noto Sans Symbols"/>
              <a:buChar char="●"/>
            </a:pP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După </a:t>
            </a:r>
            <a:r>
              <a:rPr lang="en-US" sz="20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always @ (a or b)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la </a:t>
            </a:r>
            <a:r>
              <a:rPr lang="en-US" sz="2000" b="0" i="1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linia 3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în codul precedent apare </a:t>
            </a:r>
            <a:r>
              <a:rPr lang="en-US" sz="20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, iar la </a:t>
            </a:r>
            <a:r>
              <a:rPr lang="en-US" sz="2000" b="0" i="1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linia 4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apare </a:t>
            </a:r>
            <a:r>
              <a:rPr lang="en-US" sz="20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end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care sunt același lucru ca acoladele </a:t>
            </a:r>
            <a:r>
              <a:rPr lang="en-US" sz="20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și </a:t>
            </a:r>
            <a:r>
              <a:rPr lang="en-US" sz="20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din limbajul </a:t>
            </a:r>
            <a:r>
              <a:rPr lang="en-US" sz="20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 Cu alte cuvinte, </a:t>
            </a:r>
            <a:r>
              <a:rPr lang="en-US" sz="20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și </a:t>
            </a:r>
            <a:r>
              <a:rPr lang="en-US" sz="20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end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delimitează blocul de instrucțiuni care se va executa atunci când un element din </a:t>
            </a:r>
            <a:r>
              <a:rPr lang="en-US" sz="20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lista de senzitivități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a instrucțiunii </a:t>
            </a:r>
            <a:r>
              <a:rPr lang="en-US" sz="20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always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își modifică </a:t>
            </a:r>
            <a:r>
              <a:rPr lang="en-US" sz="2000" b="0" i="0" u="sng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valoarea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 Acel bloc de instrucțiuni se va executa în mod secvențial, adică instrucțiunile se vor executa pe rând, una după alta.</a:t>
            </a:r>
            <a:endParaRPr sz="20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cb38bd6433_0_229"/>
          <p:cNvSpPr/>
          <p:nvPr/>
        </p:nvSpPr>
        <p:spPr>
          <a:xfrm>
            <a:off x="720000" y="225752"/>
            <a:ext cx="8855400" cy="9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gcb38bd6433_0_229"/>
          <p:cNvSpPr/>
          <p:nvPr/>
        </p:nvSpPr>
        <p:spPr>
          <a:xfrm>
            <a:off x="720463" y="606977"/>
            <a:ext cx="8639700" cy="3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3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2929"/>
              </a:buClr>
              <a:buSzPts val="900"/>
              <a:buFont typeface="Noto Sans Symbols"/>
              <a:buChar char="●"/>
            </a:pP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După scrierea codului se va salva fișierul dând click pe butonul </a:t>
            </a:r>
            <a:r>
              <a:rPr lang="en-US" sz="20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Save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sau utilizând combinația de taste </a:t>
            </a:r>
            <a:r>
              <a:rPr lang="en-US" sz="20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Ctrl+S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(Atunci când apăsăm Ctrl+S trebui să fie selectată fereastra cu codul pe care dorim să îl salvăm. Important este să dispară acea steluță care ne indică faptul că nu a fost salvat codul).       </a:t>
            </a:r>
            <a:endParaRPr sz="20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3639" algn="l" rtl="0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EF2929"/>
              </a:buClr>
              <a:buSzPts val="900"/>
              <a:buFont typeface="Noto Sans Symbols"/>
              <a:buChar char="●"/>
            </a:pP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După salvare vom compila fișierul dând </a:t>
            </a:r>
            <a:r>
              <a:rPr lang="en-US" sz="20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click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pe butonul </a:t>
            </a:r>
            <a:r>
              <a:rPr lang="en-US" sz="20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Compile All </a:t>
            </a:r>
            <a:endParaRPr sz="20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3639" algn="l" rtl="0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EF2929"/>
              </a:buClr>
              <a:buSzPts val="900"/>
              <a:buFont typeface="Noto Sans Symbols"/>
              <a:buChar char="●"/>
            </a:pP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După scrierea codului se va salva fișierul dând click pe butonul </a:t>
            </a:r>
            <a:r>
              <a:rPr lang="en-US" sz="20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Save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sau utilizând combinația de taste </a:t>
            </a:r>
            <a:r>
              <a:rPr lang="en-US" sz="20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Ctrl+S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(Atunci când apăsăm Ctrl+S trebui să fie selectată fereastra cu codul pe care dorim să îl salvăm. Important este să dispară acea steluță care ne indică faptul că nu a fost salvat codul).       </a:t>
            </a:r>
            <a:endParaRPr sz="20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3639" algn="l" rtl="0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EF2929"/>
              </a:buClr>
              <a:buSzPts val="900"/>
              <a:buFont typeface="Noto Sans Symbols"/>
              <a:buChar char="●"/>
            </a:pP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După salvare vom compila fișierul dând </a:t>
            </a:r>
            <a:r>
              <a:rPr lang="en-US" sz="20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click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pe butonul </a:t>
            </a:r>
            <a:r>
              <a:rPr lang="en-US" sz="20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Compile All </a:t>
            </a:r>
            <a:endParaRPr sz="20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cb38bd6433_0_234"/>
          <p:cNvSpPr/>
          <p:nvPr/>
        </p:nvSpPr>
        <p:spPr>
          <a:xfrm>
            <a:off x="720000" y="262037"/>
            <a:ext cx="8855400" cy="9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Primul</a:t>
            </a:r>
            <a:r>
              <a:rPr lang="en-US" sz="44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400" b="1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testbench</a:t>
            </a:r>
            <a:endParaRPr sz="44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gcb38bd6433_0_234"/>
          <p:cNvSpPr/>
          <p:nvPr/>
        </p:nvSpPr>
        <p:spPr>
          <a:xfrm>
            <a:off x="778320" y="1649391"/>
            <a:ext cx="8639700" cy="3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3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2929"/>
              </a:buClr>
              <a:buSzPts val="900"/>
              <a:buFont typeface="Noto Sans Symbols"/>
              <a:buChar char="●"/>
            </a:pP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Testbench-ul este în formă de “potcoavă” și înconjoară DUT-ul.</a:t>
            </a:r>
            <a:endParaRPr sz="20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8" name="Google Shape;278;gcb38bd6433_0_2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53020" y="1938309"/>
            <a:ext cx="4043276" cy="3429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cb38bd6433_0_240"/>
          <p:cNvSpPr/>
          <p:nvPr/>
        </p:nvSpPr>
        <p:spPr>
          <a:xfrm>
            <a:off x="720000" y="225752"/>
            <a:ext cx="8855400" cy="9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gcb38bd6433_0_240"/>
          <p:cNvSpPr/>
          <p:nvPr/>
        </p:nvSpPr>
        <p:spPr>
          <a:xfrm>
            <a:off x="568900" y="811402"/>
            <a:ext cx="8639700" cy="3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3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2929"/>
              </a:buClr>
              <a:buSzPts val="900"/>
              <a:buFont typeface="Noto Sans Symbols"/>
              <a:buChar char="●"/>
            </a:pP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În primul rând creăm un nou fișier dând click dreapta în fereastra </a:t>
            </a:r>
            <a:r>
              <a:rPr lang="en-US" sz="20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Project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și apoi accesând </a:t>
            </a:r>
            <a:r>
              <a:rPr lang="en-US" sz="20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Add to Project → New File...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. Acest fișier va avea același nume ca design-ul, doar că îi mai adăugăm </a:t>
            </a:r>
            <a:r>
              <a:rPr lang="en-US" sz="2000" b="0" i="1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_tb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pentru a ști că este vorba despre testbench-ul pentru design-ul arithmetic</a:t>
            </a:r>
            <a:endParaRPr sz="20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5" name="Google Shape;285;gcb38bd6433_0_2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04154" y="2131073"/>
            <a:ext cx="4005300" cy="280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cb38bd6433_0_246"/>
          <p:cNvSpPr/>
          <p:nvPr/>
        </p:nvSpPr>
        <p:spPr>
          <a:xfrm>
            <a:off x="720000" y="262037"/>
            <a:ext cx="8855400" cy="9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Cod </a:t>
            </a:r>
            <a:r>
              <a:rPr lang="en-US" sz="4400" b="1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testbench</a:t>
            </a:r>
            <a:endParaRPr sz="44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1" name="Google Shape;291;gcb38bd6433_0_2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9900" y="1172552"/>
            <a:ext cx="4700819" cy="37648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cb38bd6433_0_251"/>
          <p:cNvSpPr/>
          <p:nvPr/>
        </p:nvSpPr>
        <p:spPr>
          <a:xfrm>
            <a:off x="651545" y="472134"/>
            <a:ext cx="8639700" cy="3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3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2929"/>
              </a:buClr>
              <a:buSzPts val="720"/>
              <a:buFont typeface="Noto Sans Symbols"/>
              <a:buChar char="●"/>
            </a:pP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După aceste rânduri de cod, vedem că avem 3 mari etape într-un testbench: </a:t>
            </a:r>
            <a:r>
              <a:rPr lang="en-US" sz="16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monitor</a:t>
            </a: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6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generare</a:t>
            </a: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 stimul</a:t>
            </a: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și </a:t>
            </a:r>
            <a:r>
              <a:rPr lang="en-US" sz="16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instanțierea DUT-ului</a:t>
            </a: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  </a:t>
            </a:r>
            <a:endParaRPr sz="16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864000" marR="0" lvl="1" indent="-323640" algn="l" rtl="0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EF2929"/>
              </a:buClr>
              <a:buSzPts val="1200"/>
              <a:buFont typeface="Noto Sans Symbols"/>
              <a:buChar char="−"/>
            </a:pP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În etapa </a:t>
            </a:r>
            <a:r>
              <a:rPr lang="en-US" sz="16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monitor</a:t>
            </a: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avem pur și simplu funcția </a:t>
            </a:r>
            <a:r>
              <a:rPr lang="en-US" sz="16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$monitor</a:t>
            </a: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care nu face altceva decât să afișeze un mesaj ori de câte ori se modifică oricare </a:t>
            </a:r>
            <a:r>
              <a:rPr lang="en-US" sz="16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variabilă</a:t>
            </a: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din interiorul său. Funcția </a:t>
            </a:r>
            <a:r>
              <a:rPr lang="en-US" sz="16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$display</a:t>
            </a: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afișează un mesaj o singură dată, pe când funcția </a:t>
            </a:r>
            <a:r>
              <a:rPr lang="en-US" sz="16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$monitor</a:t>
            </a: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afișează mesajul ori de câte ori se modifică o variabilă din interiorul său, exact ca diferența dintre </a:t>
            </a:r>
            <a:r>
              <a:rPr lang="en-US" sz="16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initial</a:t>
            </a: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și </a:t>
            </a:r>
            <a:r>
              <a:rPr lang="en-US" sz="16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always</a:t>
            </a: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. În această etapă este important să afișăm 3 lucruri: timpul curent al simulării ( folosind funcția sistem </a:t>
            </a:r>
            <a:r>
              <a:rPr lang="en-US" sz="16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$time</a:t>
            </a: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), intrările și ieșirile din DUT. </a:t>
            </a:r>
            <a:endParaRPr sz="16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864000" marR="0" lvl="1" indent="-323640" algn="l" rtl="0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EF2929"/>
              </a:buClr>
              <a:buSzPts val="1200"/>
              <a:buFont typeface="Noto Sans Symbols"/>
              <a:buChar char="−"/>
            </a:pP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La etapa de </a:t>
            </a:r>
            <a:r>
              <a:rPr lang="en-US" sz="16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generare de stimuli</a:t>
            </a: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important este să generăm cazuri de test pentru </a:t>
            </a:r>
            <a:r>
              <a:rPr lang="en-US" sz="16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DUT</a:t>
            </a: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astfel încât să vedem ce ieșiri scoate ca răspuns la anumite intrări. Timpul de simulare este 0 la orice început de bloc inițial, iar noi suntem responsabili cu înaintarea sa. Ca să modificăm timpul, care dacă nu facem asta va rămâne pe loc, îi punem întârzieri </a:t>
            </a:r>
            <a:r>
              <a:rPr lang="en-US" sz="16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#n</a:t>
            </a: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unde n este numărul de unități de timp care vor fi așteptate până să se execute instrucțiunile care urmează acelui </a:t>
            </a:r>
            <a:r>
              <a:rPr lang="en-US" sz="16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#n</a:t>
            </a: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. </a:t>
            </a:r>
            <a:endParaRPr sz="16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864000" marR="0" lvl="1" indent="-323640" algn="l" rtl="0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EF2929"/>
              </a:buClr>
              <a:buSzPts val="1200"/>
              <a:buFont typeface="Noto Sans Symbols"/>
              <a:buChar char="−"/>
            </a:pP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În etapa de </a:t>
            </a:r>
            <a:r>
              <a:rPr lang="en-US" sz="16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instanțiere a DUT-ului</a:t>
            </a: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este foarte important să folosim numele </a:t>
            </a:r>
            <a:r>
              <a:rPr lang="en-US" sz="16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DUT</a:t>
            </a: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- ului ca să spunem pe cine instanțiem, apoi îi dăm un nume instanței, în cazul nostru </a:t>
            </a:r>
            <a:r>
              <a:rPr lang="en-US" sz="16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aRandomName</a:t>
            </a: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și apoi urmează lista de conexiuni de porturi. </a:t>
            </a:r>
            <a:endParaRPr sz="16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cb38bd6433_0_255"/>
          <p:cNvSpPr/>
          <p:nvPr/>
        </p:nvSpPr>
        <p:spPr>
          <a:xfrm>
            <a:off x="2103120" y="3703839"/>
            <a:ext cx="7256400" cy="12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3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2929"/>
              </a:buClr>
              <a:buSzPts val="720"/>
              <a:buFont typeface="Noto Sans Symbols"/>
              <a:buChar char="●"/>
            </a:pP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În figura de mai sus observăm că la portul </a:t>
            </a:r>
            <a:r>
              <a:rPr lang="en-US" sz="16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din </a:t>
            </a:r>
            <a:r>
              <a:rPr lang="en-US" sz="16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DUT</a:t>
            </a: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îi corespunde portul </a:t>
            </a:r>
            <a:r>
              <a:rPr lang="en-US" sz="16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a_tb</a:t>
            </a: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din testbench, iar ca să arătăm acest lucru scriem în lista de conexiuni de porturi </a:t>
            </a:r>
            <a:r>
              <a:rPr lang="en-US" sz="16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.a(a_tb)</a:t>
            </a: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ca să arătăm că la portul a din DUT-ul pe care îl instanțiem îi conectăm semnalul </a:t>
            </a:r>
            <a:r>
              <a:rPr lang="en-US" sz="16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a_tb</a:t>
            </a: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din testbench-ul nostru. </a:t>
            </a:r>
            <a:r>
              <a:rPr lang="en-US" sz="16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(!Atentie la punct)</a:t>
            </a:r>
            <a:endParaRPr sz="16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2" name="Google Shape;302;gcb38bd6433_0_2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66160" y="701828"/>
            <a:ext cx="2949353" cy="24532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cb38bd6433_0_260"/>
          <p:cNvSpPr/>
          <p:nvPr/>
        </p:nvSpPr>
        <p:spPr>
          <a:xfrm>
            <a:off x="720000" y="225752"/>
            <a:ext cx="8855400" cy="9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gcb38bd6433_0_260"/>
          <p:cNvSpPr/>
          <p:nvPr/>
        </p:nvSpPr>
        <p:spPr>
          <a:xfrm>
            <a:off x="720000" y="1199313"/>
            <a:ext cx="8639700" cy="3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3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2929"/>
              </a:buClr>
              <a:buSzPts val="720"/>
              <a:buFont typeface="Noto Sans Symbols"/>
              <a:buChar char="●"/>
            </a:pP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Dupa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̆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scrierea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codului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se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va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salva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fișierul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dând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click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butonul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Save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sau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utilizând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combinația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de taste </a:t>
            </a:r>
            <a:r>
              <a:rPr lang="en-US" sz="1600" b="1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Ctrl+S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 Se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verifica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̆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salvarea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fișierului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uitându-ne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daca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̆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mai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apare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steluța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în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dreptul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numelui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fișierului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sau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nu. </a:t>
            </a:r>
            <a:endParaRPr sz="16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3639" algn="l" rtl="0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EF2929"/>
              </a:buClr>
              <a:buSzPts val="720"/>
              <a:buFont typeface="Noto Sans Symbols"/>
              <a:buChar char="●"/>
            </a:pP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Dupa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̆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salvare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vom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compila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fișierul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dând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click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butonul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Compile All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6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3639" algn="l" rtl="0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EF2929"/>
              </a:buClr>
              <a:buSzPts val="720"/>
              <a:buFont typeface="Noto Sans Symbols"/>
              <a:buChar char="●"/>
            </a:pP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Dupa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̆ </a:t>
            </a:r>
            <a:r>
              <a:rPr lang="en-US" sz="1600" b="1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compilare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daca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̆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rezulta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̆ </a:t>
            </a:r>
            <a:r>
              <a:rPr lang="en-US" sz="1600" b="1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erori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le </a:t>
            </a:r>
            <a:r>
              <a:rPr lang="en-US" sz="1600" b="1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corectăm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600" b="1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salvăm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fișierul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modificat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și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în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1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compilăm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înca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̆ o dată. </a:t>
            </a:r>
            <a:endParaRPr sz="16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3639" algn="l" rtl="0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EF2929"/>
              </a:buClr>
              <a:buSzPts val="720"/>
              <a:buFont typeface="Noto Sans Symbols"/>
              <a:buChar char="●"/>
            </a:pP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Daca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̆ nu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avem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erori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simulăm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dând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click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butonul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Simulate</a:t>
            </a:r>
            <a:endParaRPr sz="16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3639" algn="l" rtl="0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EF2929"/>
              </a:buClr>
              <a:buSzPts val="720"/>
              <a:buFont typeface="Noto Sans Symbols"/>
              <a:buChar char="●"/>
            </a:pP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Va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apărea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fereastra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̆ </a:t>
            </a:r>
            <a:r>
              <a:rPr lang="en-US" sz="16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Start Simulation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unde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se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va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da click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simbolul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din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stânga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folderului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work pentru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deschiderea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conținutului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acestuia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( ca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sa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̆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vedem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fișierele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din el) .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Dupa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̆ se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va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selecta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fișierul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1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arithmetic_tb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și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se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va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da click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OK.</a:t>
            </a:r>
            <a:endParaRPr sz="16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3639" algn="l" rtl="0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EF2929"/>
              </a:buClr>
              <a:buSzPts val="720"/>
              <a:buFont typeface="Noto Sans Symbols"/>
              <a:buChar char="●"/>
            </a:pPr>
            <a:r>
              <a:rPr lang="en-US" sz="16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ATENȚIE!!!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Nu se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simuleaza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̆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niciodata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̆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fișiere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de design,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doar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fișiere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testbench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16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gcb38bd6433_0_2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1450" y="800975"/>
            <a:ext cx="5518850" cy="378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cb38bd6433_0_269"/>
          <p:cNvSpPr/>
          <p:nvPr/>
        </p:nvSpPr>
        <p:spPr>
          <a:xfrm>
            <a:off x="720000" y="225752"/>
            <a:ext cx="8855400" cy="9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gcb38bd6433_0_269"/>
          <p:cNvSpPr/>
          <p:nvPr/>
        </p:nvSpPr>
        <p:spPr>
          <a:xfrm>
            <a:off x="782225" y="766977"/>
            <a:ext cx="8639700" cy="3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3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2929"/>
              </a:buClr>
              <a:buSzPts val="900"/>
              <a:buFont typeface="Noto Sans Symbols"/>
              <a:buChar char="●"/>
            </a:pP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Trebuie să vedem fereastra albastră cu numele </a:t>
            </a:r>
            <a:r>
              <a:rPr lang="en-US" sz="20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Objects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dacă nu apare fereastra </a:t>
            </a:r>
            <a:r>
              <a:rPr lang="en-US" sz="20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Objects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mergem la meniul </a:t>
            </a:r>
            <a:r>
              <a:rPr lang="en-US" sz="20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View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și dăm click pe </a:t>
            </a:r>
            <a:r>
              <a:rPr lang="en-US" sz="20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View → Objects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. Avem aici două variante. În fereastra Objects dăm click dreapta în zona albastră ( dăm click dreapta în gol, nu pe semnalele de acolo) și mergem pe calea </a:t>
            </a:r>
            <a:r>
              <a:rPr lang="en-US" sz="20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Add to → Wave → Signals in Region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0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3639" algn="l" rtl="0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EF2929"/>
              </a:buClr>
              <a:buSzPts val="900"/>
              <a:buFont typeface="Noto Sans Symbols"/>
              <a:buChar char="●"/>
            </a:pP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Altă variantă este să dăm un click în fereastra </a:t>
            </a:r>
            <a:r>
              <a:rPr lang="en-US" sz="20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Objects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să fie selectată acea fereastră, după care apăsăm combinația de taste </a:t>
            </a:r>
            <a:r>
              <a:rPr lang="en-US" sz="20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Ctrl+A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ca să selectăm toate semnalele și apoi apăsăm combinația de tasta </a:t>
            </a:r>
            <a:r>
              <a:rPr lang="en-US" sz="20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Ctrl+W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pentru a adăuga semnalele selectate în fereastra </a:t>
            </a:r>
            <a:r>
              <a:rPr lang="en-US" sz="20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Wave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 Important este că trebuie să ne apară semnalele declarate în testbench în fereastra </a:t>
            </a:r>
            <a:r>
              <a:rPr lang="en-US" sz="20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Wave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 Dacă nu vedem fereastra </a:t>
            </a:r>
            <a:r>
              <a:rPr lang="en-US" sz="20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Wave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mergem la meniul </a:t>
            </a:r>
            <a:r>
              <a:rPr lang="en-US" sz="20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View</a:t>
            </a: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și dăm click pe </a:t>
            </a:r>
            <a:r>
              <a:rPr lang="en-US" sz="20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View → Wave. </a:t>
            </a:r>
            <a:endParaRPr sz="20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3639" algn="l" rtl="0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EF2929"/>
              </a:buClr>
              <a:buSzPts val="900"/>
              <a:buFont typeface="Noto Sans Symbols"/>
              <a:buChar char="●"/>
            </a:pP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0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gcb38bd6433_0_27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28545" y="441890"/>
            <a:ext cx="4732412" cy="48901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cb38bd6433_0_278"/>
          <p:cNvSpPr/>
          <p:nvPr/>
        </p:nvSpPr>
        <p:spPr>
          <a:xfrm>
            <a:off x="720000" y="225752"/>
            <a:ext cx="8855400" cy="9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gcb38bd6433_0_278"/>
          <p:cNvSpPr/>
          <p:nvPr/>
        </p:nvSpPr>
        <p:spPr>
          <a:xfrm>
            <a:off x="657775" y="687002"/>
            <a:ext cx="8639700" cy="3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3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2929"/>
              </a:buClr>
              <a:buSzPts val="720"/>
              <a:buFont typeface="Noto Sans Symbols"/>
              <a:buChar char="●"/>
            </a:pP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În fereastra </a:t>
            </a:r>
            <a:r>
              <a:rPr lang="en-US" sz="16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Transcript</a:t>
            </a: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vom vedea clar că a mers simularea și vedem mesajele tipărite de 3 ori, pentru că am introdus 3 întârzieri la etapa de generare de stimuli.</a:t>
            </a:r>
            <a:endParaRPr sz="16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None/>
            </a:pPr>
            <a:endParaRPr sz="16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None/>
            </a:pPr>
            <a:endParaRPr sz="16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None/>
            </a:pPr>
            <a:endParaRPr sz="16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3639" algn="l" rtl="0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EF2929"/>
              </a:buClr>
              <a:buSzPts val="720"/>
              <a:buFont typeface="Noto Sans Symbols"/>
              <a:buChar char="●"/>
            </a:pP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În cazul ferestrei Wave vedem ceva și nu prea. Semnalele sunt extrem de scurte și imaginea trebuie mărită ca să le vedem corespunzător. </a:t>
            </a:r>
            <a:endParaRPr sz="16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1" name="Google Shape;331;gcb38bd6433_0_27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51180" y="1275538"/>
            <a:ext cx="2578591" cy="1092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gcb38bd6433_0_27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09695" y="3303889"/>
            <a:ext cx="2951242" cy="17609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cb38bd6433_0_285"/>
          <p:cNvSpPr/>
          <p:nvPr/>
        </p:nvSpPr>
        <p:spPr>
          <a:xfrm>
            <a:off x="595450" y="823075"/>
            <a:ext cx="5581800" cy="3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3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2929"/>
              </a:buClr>
              <a:buSzPts val="720"/>
              <a:buFont typeface="Noto Sans Symbols"/>
              <a:buChar char="●"/>
            </a:pP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Pentru a vizualiza mai ușor undele dă </a:t>
            </a:r>
            <a:r>
              <a:rPr lang="en-US" sz="16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click</a:t>
            </a: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oriunde în zona neagră din fereastra </a:t>
            </a:r>
            <a:r>
              <a:rPr lang="en-US" sz="16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Wave</a:t>
            </a: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și dă click dreapta selectând </a:t>
            </a:r>
            <a:r>
              <a:rPr lang="en-US" sz="16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Zoom Full</a:t>
            </a: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sau dacă selectăm fereastra </a:t>
            </a:r>
            <a:r>
              <a:rPr lang="en-US" sz="16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Wave</a:t>
            </a: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putem simplu apăsa </a:t>
            </a:r>
            <a:r>
              <a:rPr lang="en-US" sz="16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tasta F </a:t>
            </a:r>
            <a:endParaRPr sz="16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3639" algn="l" rtl="0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EF2929"/>
              </a:buClr>
              <a:buSzPts val="720"/>
              <a:buFont typeface="Noto Sans Symbols"/>
              <a:buChar char="●"/>
            </a:pP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Rezultatul simulării este un </a:t>
            </a:r>
            <a:r>
              <a:rPr lang="en-US" sz="16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waveform</a:t>
            </a: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adică niște semnale care sunt </a:t>
            </a:r>
            <a:r>
              <a:rPr lang="en-US" sz="16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sus</a:t>
            </a: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( adică la </a:t>
            </a:r>
            <a:r>
              <a:rPr lang="en-US" sz="16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1 logic</a:t>
            </a: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) sau sunt </a:t>
            </a:r>
            <a:r>
              <a:rPr lang="en-US" sz="16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jos</a:t>
            </a: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( adică la </a:t>
            </a:r>
            <a:r>
              <a:rPr lang="en-US" sz="16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0 logic</a:t>
            </a: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), altfel spus, un mod de vizualizare a simulării care afișează în fereastra </a:t>
            </a:r>
            <a:r>
              <a:rPr lang="en-US" sz="16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Wave</a:t>
            </a: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semnalele pe care și funcția </a:t>
            </a:r>
            <a:r>
              <a:rPr lang="en-US" sz="16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$monitor</a:t>
            </a: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le afișează în fereastra </a:t>
            </a:r>
            <a:r>
              <a:rPr lang="en-US" sz="16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Transcript</a:t>
            </a: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16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3639" algn="l" rtl="0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EF2929"/>
              </a:buClr>
              <a:buSzPts val="720"/>
              <a:buFont typeface="Noto Sans Symbols"/>
              <a:buChar char="●"/>
            </a:pPr>
            <a:r>
              <a:rPr lang="en-US"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Astfel vom putea vedea dacă la anumite semnale de intrare le corespunde o anumită ieșire sau nu. Desigur, ne putem uita doar la mesajele afișate de funcția $monitor în fereastra Transcript, dar totul va fi mai interesant vizualizând semnalele în fereastra Wave.</a:t>
            </a:r>
            <a:endParaRPr sz="16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8" name="Google Shape;338;gcb38bd6433_0_2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77250" y="1042975"/>
            <a:ext cx="3866200" cy="274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3721</Words>
  <Application>Microsoft Office PowerPoint</Application>
  <PresentationFormat>Custom</PresentationFormat>
  <Paragraphs>117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Noto Sans Symbols</vt:lpstr>
      <vt:lpstr>Diseño predeterminado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Raul Rotar</cp:lastModifiedBy>
  <cp:revision>5</cp:revision>
  <dcterms:created xsi:type="dcterms:W3CDTF">2020-09-19T03:30:51Z</dcterms:created>
  <dcterms:modified xsi:type="dcterms:W3CDTF">2021-10-08T19:57:34Z</dcterms:modified>
</cp:coreProperties>
</file>